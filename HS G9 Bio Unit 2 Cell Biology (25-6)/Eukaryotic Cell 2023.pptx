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4"/>
    <p:sldMasterId id="2147483683" r:id="rId5"/>
    <p:sldMasterId id="2147483684" r:id="rId6"/>
    <p:sldMasterId id="214748368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y="5143500" cx="9144000"/>
  <p:notesSz cx="6858000" cy="9144000"/>
  <p:embeddedFontLst>
    <p:embeddedFont>
      <p:font typeface="Roboto Slab"/>
      <p:regular r:id="rId51"/>
      <p:bold r:id="rId52"/>
    </p:embeddedFont>
    <p:embeddedFont>
      <p:font typeface="Robot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Slab-regular.fntdata"/><Relationship Id="rId50" Type="http://schemas.openxmlformats.org/officeDocument/2006/relationships/slide" Target="slides/slide42.xml"/><Relationship Id="rId53" Type="http://schemas.openxmlformats.org/officeDocument/2006/relationships/font" Target="fonts/Roboto-regular.fntdata"/><Relationship Id="rId52" Type="http://schemas.openxmlformats.org/officeDocument/2006/relationships/font" Target="fonts/RobotoSlab-bold.fntdata"/><Relationship Id="rId11" Type="http://schemas.openxmlformats.org/officeDocument/2006/relationships/slide" Target="slides/slide3.xml"/><Relationship Id="rId55" Type="http://schemas.openxmlformats.org/officeDocument/2006/relationships/font" Target="fonts/Roboto-italic.fntdata"/><Relationship Id="rId10" Type="http://schemas.openxmlformats.org/officeDocument/2006/relationships/slide" Target="slides/slide2.xml"/><Relationship Id="rId54" Type="http://schemas.openxmlformats.org/officeDocument/2006/relationships/font" Target="fonts/Roboto-bold.fntdata"/><Relationship Id="rId13" Type="http://schemas.openxmlformats.org/officeDocument/2006/relationships/slide" Target="slides/slide5.xml"/><Relationship Id="rId12" Type="http://schemas.openxmlformats.org/officeDocument/2006/relationships/slide" Target="slides/slide4.xml"/><Relationship Id="rId56" Type="http://schemas.openxmlformats.org/officeDocument/2006/relationships/font" Target="fonts/Roboto-boldItalic.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917ee843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917ee843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45abb34015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45abb3401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latin typeface="Cambria"/>
                <a:ea typeface="Cambria"/>
                <a:cs typeface="Cambria"/>
                <a:sym typeface="Cambria"/>
              </a:rPr>
              <a:t>Norms support learning… and here are two important norms</a:t>
            </a:r>
            <a:endParaRPr sz="1800">
              <a:solidFill>
                <a:schemeClr val="dk1"/>
              </a:solidFill>
              <a:latin typeface="Cambria"/>
              <a:ea typeface="Cambria"/>
              <a:cs typeface="Cambria"/>
              <a:sym typeface="Cambria"/>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45abb3401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45abb3401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2c3da5df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2c3da5df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2c3da5df1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2c3da5df1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2c3da5df1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2c3da5df1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3e7512e7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3e7512e7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3a18625d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3a18625d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c3da5df1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c3da5df1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753bb687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753bb687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2c3da5df1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2c3da5df1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c3da5df1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c3da5df1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449bbccc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449bbccc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2c3da5df1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2c3da5df1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2c3da5df1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2c3da5df1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2c3da5df1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2c3da5df1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2c3da5df1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2c3da5df1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2c3da5df1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2c3da5df1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2c3da5df18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2c3da5df18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2c3da5df18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2c3da5df18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c3da5df1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c3da5df1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2c3da5df18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2c3da5df18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46507a913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46507a913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2c3da5df18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2c3da5df18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2c3da5df18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2c3da5df1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46507a91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46507a91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146507a913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146507a913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2c3da5df1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2c3da5df1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2c3da5df18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2c3da5df18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2c3da5df1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2c3da5df1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solidFill>
                  <a:srgbClr val="222222"/>
                </a:solidFill>
                <a:highlight>
                  <a:schemeClr val="lt1"/>
                </a:highlight>
              </a:rPr>
              <a:t>Vacuoles </a:t>
            </a:r>
            <a:r>
              <a:rPr lang="en" sz="1200">
                <a:solidFill>
                  <a:srgbClr val="222222"/>
                </a:solidFill>
                <a:highlight>
                  <a:schemeClr val="lt1"/>
                </a:highlight>
              </a:rPr>
              <a:t>hold water and wastes. </a:t>
            </a:r>
            <a:r>
              <a:rPr lang="en" sz="1200">
                <a:solidFill>
                  <a:schemeClr val="dk1"/>
                </a:solidFill>
              </a:rPr>
              <a:t>Vacuoles contribute to the rigidity of the plant using water to develop hydrostatic pressure. </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2c3da5df18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2c3da5df18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2c3da5df18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2c3da5df18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3ea0a07e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3ea0a07e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45b4ea4c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45b4ea4c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917ee8436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917ee8436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222222"/>
                </a:solidFill>
                <a:highlight>
                  <a:srgbClr val="FFFFFF"/>
                </a:highlight>
              </a:rPr>
              <a:t>Vacuoles </a:t>
            </a:r>
            <a:r>
              <a:rPr lang="en" sz="1200">
                <a:solidFill>
                  <a:srgbClr val="222222"/>
                </a:solidFill>
                <a:highlight>
                  <a:srgbClr val="FFFFFF"/>
                </a:highlight>
              </a:rPr>
              <a:t>hold water and wastes. </a:t>
            </a:r>
            <a:r>
              <a:rPr lang="en" sz="1200">
                <a:solidFill>
                  <a:schemeClr val="dk1"/>
                </a:solidFill>
              </a:rPr>
              <a:t>Vacuoles contribute to the rigidity of the plant using water to develop hydrostatic pressure. </a:t>
            </a:r>
            <a:endParaRPr sz="1200">
              <a:solidFill>
                <a:schemeClr val="dk1"/>
              </a:solidFill>
            </a:endParaRPr>
          </a:p>
          <a:p>
            <a:pPr indent="0" lvl="0" marL="0" rtl="0" algn="l">
              <a:spcBef>
                <a:spcPts val="0"/>
              </a:spcBef>
              <a:spcAft>
                <a:spcPts val="0"/>
              </a:spcAft>
              <a:buNone/>
            </a:pPr>
            <a:r>
              <a:t/>
            </a:r>
            <a:endParaRPr sz="1200">
              <a:solidFill>
                <a:srgbClr val="222222"/>
              </a:solidFill>
              <a:highlight>
                <a:srgbClr val="FFFFFF"/>
              </a:highlight>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91da884e11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91da884e11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45abb3401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45abb3401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Eukaryotic cell and go over this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45abb3401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45abb3401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91da884e11_1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91da884e11_1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1cm = 10000 micrometer</a:t>
            </a:r>
            <a:endParaRPr/>
          </a:p>
          <a:p>
            <a:pPr indent="0" lvl="0" marL="0" rtl="0" algn="l">
              <a:lnSpc>
                <a:spcPct val="115000"/>
              </a:lnSpc>
              <a:spcBef>
                <a:spcPts val="0"/>
              </a:spcBef>
              <a:spcAft>
                <a:spcPts val="0"/>
              </a:spcAft>
              <a:buNone/>
            </a:pPr>
            <a:r>
              <a:rPr lang="en" sz="1300">
                <a:solidFill>
                  <a:srgbClr val="333333"/>
                </a:solidFill>
                <a:highlight>
                  <a:srgbClr val="FFFFFF"/>
                </a:highlight>
              </a:rPr>
              <a:t>1 centimeter = 10 000 000 nanometer</a:t>
            </a:r>
            <a:endParaRPr sz="1300">
              <a:solidFill>
                <a:srgbClr val="333333"/>
              </a:solidFill>
              <a:highlight>
                <a:srgbClr val="FFFFFF"/>
              </a:highlight>
            </a:endParaRPr>
          </a:p>
          <a:p>
            <a:pPr indent="0" lvl="0" marL="0" rtl="0" algn="l">
              <a:lnSpc>
                <a:spcPct val="115000"/>
              </a:lnSpc>
              <a:spcBef>
                <a:spcPts val="0"/>
              </a:spcBef>
              <a:spcAft>
                <a:spcPts val="0"/>
              </a:spcAft>
              <a:buNone/>
            </a:pPr>
            <a:r>
              <a:rPr lang="en" sz="1200">
                <a:solidFill>
                  <a:srgbClr val="333333"/>
                </a:solidFill>
                <a:highlight>
                  <a:srgbClr val="FFFFFF"/>
                </a:highlight>
              </a:rPr>
              <a:t>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eb4426fc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eb4426fc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fdce6a48e8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fdce6a48e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eaec2814c2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eaec2814c2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26"/>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01" name="Google Shape;101;p26"/>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02" name="Google Shape;102;p2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03" name="Google Shape;103;p26"/>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
        <p:nvSpPr>
          <p:cNvPr id="104" name="Google Shape;104;p26"/>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rt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05" name="Google Shape;10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cxnSp>
        <p:nvCxnSpPr>
          <p:cNvPr id="107" name="Google Shape;107;p27"/>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08" name="Google Shape;108;p27"/>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09" name="Google Shape;10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cxnSp>
        <p:nvCxnSpPr>
          <p:cNvPr id="111" name="Google Shape;111;p28"/>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12" name="Google Shape;112;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3" name="Google Shape;113;p2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14" name="Google Shape;11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5" name="Shape 115"/>
        <p:cNvGrpSpPr/>
        <p:nvPr/>
      </p:nvGrpSpPr>
      <p:grpSpPr>
        <a:xfrm>
          <a:off x="0" y="0"/>
          <a:ext cx="0" cy="0"/>
          <a:chOff x="0" y="0"/>
          <a:chExt cx="0" cy="0"/>
        </a:xfrm>
      </p:grpSpPr>
      <p:cxnSp>
        <p:nvCxnSpPr>
          <p:cNvPr id="116" name="Google Shape;116;p29"/>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17" name="Google Shape;117;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8" name="Google Shape;118;p29"/>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9" name="Google Shape;119;p29"/>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0" name="Google Shape;12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 name="Shape 121"/>
        <p:cNvGrpSpPr/>
        <p:nvPr/>
      </p:nvGrpSpPr>
      <p:grpSpPr>
        <a:xfrm>
          <a:off x="0" y="0"/>
          <a:ext cx="0" cy="0"/>
          <a:chOff x="0" y="0"/>
          <a:chExt cx="0" cy="0"/>
        </a:xfrm>
      </p:grpSpPr>
      <p:sp>
        <p:nvSpPr>
          <p:cNvPr id="122" name="Google Shape;122;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3" name="Google Shape;12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cxnSp>
        <p:nvCxnSpPr>
          <p:cNvPr id="125" name="Google Shape;125;p31"/>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126" name="Google Shape;126;p31"/>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7" name="Google Shape;127;p31"/>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8" name="Google Shape;12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9" name="Shape 129"/>
        <p:cNvGrpSpPr/>
        <p:nvPr/>
      </p:nvGrpSpPr>
      <p:grpSpPr>
        <a:xfrm>
          <a:off x="0" y="0"/>
          <a:ext cx="0" cy="0"/>
          <a:chOff x="0" y="0"/>
          <a:chExt cx="0" cy="0"/>
        </a:xfrm>
      </p:grpSpPr>
      <p:sp>
        <p:nvSpPr>
          <p:cNvPr id="130" name="Google Shape;130;p32"/>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1" name="Google Shape;13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2" name="Shape 132"/>
        <p:cNvGrpSpPr/>
        <p:nvPr/>
      </p:nvGrpSpPr>
      <p:grpSpPr>
        <a:xfrm>
          <a:off x="0" y="0"/>
          <a:ext cx="0" cy="0"/>
          <a:chOff x="0" y="0"/>
          <a:chExt cx="0" cy="0"/>
        </a:xfrm>
      </p:grpSpPr>
      <p:sp>
        <p:nvSpPr>
          <p:cNvPr id="133" name="Google Shape;133;p33"/>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4" name="Google Shape;134;p33"/>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135" name="Google Shape;135;p33"/>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800"/>
              <a:buNone/>
              <a:defRPr sz="38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136" name="Google Shape;136;p33"/>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accent5"/>
              </a:buClr>
              <a:buSzPts val="2100"/>
              <a:buNone/>
              <a:defRPr sz="2100">
                <a:solidFill>
                  <a:schemeClr val="accent5"/>
                </a:solidFill>
              </a:defRPr>
            </a:lvl1pPr>
            <a:lvl2pPr lvl="1" rtl="0" algn="ctr">
              <a:lnSpc>
                <a:spcPct val="100000"/>
              </a:lnSpc>
              <a:spcBef>
                <a:spcPts val="0"/>
              </a:spcBef>
              <a:spcAft>
                <a:spcPts val="0"/>
              </a:spcAft>
              <a:buClr>
                <a:schemeClr val="accent5"/>
              </a:buClr>
              <a:buSzPts val="2100"/>
              <a:buNone/>
              <a:defRPr sz="2100">
                <a:solidFill>
                  <a:schemeClr val="accent5"/>
                </a:solidFill>
              </a:defRPr>
            </a:lvl2pPr>
            <a:lvl3pPr lvl="2" rtl="0" algn="ctr">
              <a:lnSpc>
                <a:spcPct val="100000"/>
              </a:lnSpc>
              <a:spcBef>
                <a:spcPts val="0"/>
              </a:spcBef>
              <a:spcAft>
                <a:spcPts val="0"/>
              </a:spcAft>
              <a:buClr>
                <a:schemeClr val="accent5"/>
              </a:buClr>
              <a:buSzPts val="2100"/>
              <a:buNone/>
              <a:defRPr sz="2100">
                <a:solidFill>
                  <a:schemeClr val="accent5"/>
                </a:solidFill>
              </a:defRPr>
            </a:lvl3pPr>
            <a:lvl4pPr lvl="3" rtl="0" algn="ctr">
              <a:lnSpc>
                <a:spcPct val="100000"/>
              </a:lnSpc>
              <a:spcBef>
                <a:spcPts val="0"/>
              </a:spcBef>
              <a:spcAft>
                <a:spcPts val="0"/>
              </a:spcAft>
              <a:buClr>
                <a:schemeClr val="accent5"/>
              </a:buClr>
              <a:buSzPts val="2100"/>
              <a:buNone/>
              <a:defRPr sz="2100">
                <a:solidFill>
                  <a:schemeClr val="accent5"/>
                </a:solidFill>
              </a:defRPr>
            </a:lvl4pPr>
            <a:lvl5pPr lvl="4" rtl="0" algn="ctr">
              <a:lnSpc>
                <a:spcPct val="100000"/>
              </a:lnSpc>
              <a:spcBef>
                <a:spcPts val="0"/>
              </a:spcBef>
              <a:spcAft>
                <a:spcPts val="0"/>
              </a:spcAft>
              <a:buClr>
                <a:schemeClr val="accent5"/>
              </a:buClr>
              <a:buSzPts val="2100"/>
              <a:buNone/>
              <a:defRPr sz="2100">
                <a:solidFill>
                  <a:schemeClr val="accent5"/>
                </a:solidFill>
              </a:defRPr>
            </a:lvl5pPr>
            <a:lvl6pPr lvl="5" rtl="0" algn="ctr">
              <a:lnSpc>
                <a:spcPct val="100000"/>
              </a:lnSpc>
              <a:spcBef>
                <a:spcPts val="0"/>
              </a:spcBef>
              <a:spcAft>
                <a:spcPts val="0"/>
              </a:spcAft>
              <a:buClr>
                <a:schemeClr val="accent5"/>
              </a:buClr>
              <a:buSzPts val="2100"/>
              <a:buNone/>
              <a:defRPr sz="2100">
                <a:solidFill>
                  <a:schemeClr val="accent5"/>
                </a:solidFill>
              </a:defRPr>
            </a:lvl6pPr>
            <a:lvl7pPr lvl="6" rtl="0" algn="ctr">
              <a:lnSpc>
                <a:spcPct val="100000"/>
              </a:lnSpc>
              <a:spcBef>
                <a:spcPts val="0"/>
              </a:spcBef>
              <a:spcAft>
                <a:spcPts val="0"/>
              </a:spcAft>
              <a:buClr>
                <a:schemeClr val="accent5"/>
              </a:buClr>
              <a:buSzPts val="2100"/>
              <a:buNone/>
              <a:defRPr sz="2100">
                <a:solidFill>
                  <a:schemeClr val="accent5"/>
                </a:solidFill>
              </a:defRPr>
            </a:lvl7pPr>
            <a:lvl8pPr lvl="7" rtl="0" algn="ctr">
              <a:lnSpc>
                <a:spcPct val="100000"/>
              </a:lnSpc>
              <a:spcBef>
                <a:spcPts val="0"/>
              </a:spcBef>
              <a:spcAft>
                <a:spcPts val="0"/>
              </a:spcAft>
              <a:buClr>
                <a:schemeClr val="accent5"/>
              </a:buClr>
              <a:buSzPts val="2100"/>
              <a:buNone/>
              <a:defRPr sz="2100">
                <a:solidFill>
                  <a:schemeClr val="accent5"/>
                </a:solidFill>
              </a:defRPr>
            </a:lvl8pPr>
            <a:lvl9pPr lvl="8" rtl="0"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137" name="Google Shape;137;p3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8" name="Google Shape;138;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9" name="Shape 139"/>
        <p:cNvGrpSpPr/>
        <p:nvPr/>
      </p:nvGrpSpPr>
      <p:grpSpPr>
        <a:xfrm>
          <a:off x="0" y="0"/>
          <a:ext cx="0" cy="0"/>
          <a:chOff x="0" y="0"/>
          <a:chExt cx="0" cy="0"/>
        </a:xfrm>
      </p:grpSpPr>
      <p:sp>
        <p:nvSpPr>
          <p:cNvPr id="140" name="Google Shape;140;p34"/>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141" name="Google Shape;14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2" name="Shape 142"/>
        <p:cNvGrpSpPr/>
        <p:nvPr/>
      </p:nvGrpSpPr>
      <p:grpSpPr>
        <a:xfrm>
          <a:off x="0" y="0"/>
          <a:ext cx="0" cy="0"/>
          <a:chOff x="0" y="0"/>
          <a:chExt cx="0" cy="0"/>
        </a:xfrm>
      </p:grpSpPr>
      <p:sp>
        <p:nvSpPr>
          <p:cNvPr id="143" name="Google Shape;143;p35"/>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5"/>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5"/>
              </a:buClr>
              <a:buSzPts val="13000"/>
              <a:buNone/>
              <a:defRPr sz="13000">
                <a:solidFill>
                  <a:schemeClr val="accent5"/>
                </a:solidFill>
              </a:defRPr>
            </a:lvl1pPr>
            <a:lvl2pPr lvl="1" rtl="0" algn="ctr">
              <a:spcBef>
                <a:spcPts val="0"/>
              </a:spcBef>
              <a:spcAft>
                <a:spcPts val="0"/>
              </a:spcAft>
              <a:buClr>
                <a:schemeClr val="accent5"/>
              </a:buClr>
              <a:buSzPts val="13000"/>
              <a:buNone/>
              <a:defRPr sz="13000">
                <a:solidFill>
                  <a:schemeClr val="accent5"/>
                </a:solidFill>
              </a:defRPr>
            </a:lvl2pPr>
            <a:lvl3pPr lvl="2" rtl="0" algn="ctr">
              <a:spcBef>
                <a:spcPts val="0"/>
              </a:spcBef>
              <a:spcAft>
                <a:spcPts val="0"/>
              </a:spcAft>
              <a:buClr>
                <a:schemeClr val="accent5"/>
              </a:buClr>
              <a:buSzPts val="13000"/>
              <a:buNone/>
              <a:defRPr sz="13000">
                <a:solidFill>
                  <a:schemeClr val="accent5"/>
                </a:solidFill>
              </a:defRPr>
            </a:lvl3pPr>
            <a:lvl4pPr lvl="3" rtl="0" algn="ctr">
              <a:spcBef>
                <a:spcPts val="0"/>
              </a:spcBef>
              <a:spcAft>
                <a:spcPts val="0"/>
              </a:spcAft>
              <a:buClr>
                <a:schemeClr val="accent5"/>
              </a:buClr>
              <a:buSzPts val="13000"/>
              <a:buNone/>
              <a:defRPr sz="13000">
                <a:solidFill>
                  <a:schemeClr val="accent5"/>
                </a:solidFill>
              </a:defRPr>
            </a:lvl4pPr>
            <a:lvl5pPr lvl="4" rtl="0" algn="ctr">
              <a:spcBef>
                <a:spcPts val="0"/>
              </a:spcBef>
              <a:spcAft>
                <a:spcPts val="0"/>
              </a:spcAft>
              <a:buClr>
                <a:schemeClr val="accent5"/>
              </a:buClr>
              <a:buSzPts val="13000"/>
              <a:buNone/>
              <a:defRPr sz="13000">
                <a:solidFill>
                  <a:schemeClr val="accent5"/>
                </a:solidFill>
              </a:defRPr>
            </a:lvl5pPr>
            <a:lvl6pPr lvl="5" rtl="0" algn="ctr">
              <a:spcBef>
                <a:spcPts val="0"/>
              </a:spcBef>
              <a:spcAft>
                <a:spcPts val="0"/>
              </a:spcAft>
              <a:buClr>
                <a:schemeClr val="accent5"/>
              </a:buClr>
              <a:buSzPts val="13000"/>
              <a:buNone/>
              <a:defRPr sz="13000">
                <a:solidFill>
                  <a:schemeClr val="accent5"/>
                </a:solidFill>
              </a:defRPr>
            </a:lvl6pPr>
            <a:lvl7pPr lvl="6" rtl="0" algn="ctr">
              <a:spcBef>
                <a:spcPts val="0"/>
              </a:spcBef>
              <a:spcAft>
                <a:spcPts val="0"/>
              </a:spcAft>
              <a:buClr>
                <a:schemeClr val="accent5"/>
              </a:buClr>
              <a:buSzPts val="13000"/>
              <a:buNone/>
              <a:defRPr sz="13000">
                <a:solidFill>
                  <a:schemeClr val="accent5"/>
                </a:solidFill>
              </a:defRPr>
            </a:lvl7pPr>
            <a:lvl8pPr lvl="7" rtl="0" algn="ctr">
              <a:spcBef>
                <a:spcPts val="0"/>
              </a:spcBef>
              <a:spcAft>
                <a:spcPts val="0"/>
              </a:spcAft>
              <a:buClr>
                <a:schemeClr val="accent5"/>
              </a:buClr>
              <a:buSzPts val="13000"/>
              <a:buNone/>
              <a:defRPr sz="13000">
                <a:solidFill>
                  <a:schemeClr val="accent5"/>
                </a:solidFill>
              </a:defRPr>
            </a:lvl8pPr>
            <a:lvl9pPr lvl="8" rtl="0" algn="ctr">
              <a:spcBef>
                <a:spcPts val="0"/>
              </a:spcBef>
              <a:spcAft>
                <a:spcPts val="0"/>
              </a:spcAft>
              <a:buClr>
                <a:schemeClr val="accent5"/>
              </a:buClr>
              <a:buSzPts val="13000"/>
              <a:buNone/>
              <a:defRPr sz="13000">
                <a:solidFill>
                  <a:schemeClr val="accent5"/>
                </a:solidFill>
              </a:defRPr>
            </a:lvl9pPr>
          </a:lstStyle>
          <a:p>
            <a:r>
              <a:t>xx%</a:t>
            </a:r>
          </a:p>
        </p:txBody>
      </p:sp>
      <p:sp>
        <p:nvSpPr>
          <p:cNvPr id="145" name="Google Shape;145;p35"/>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46" name="Google Shape;14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7" name="Shape 147"/>
        <p:cNvGrpSpPr/>
        <p:nvPr/>
      </p:nvGrpSpPr>
      <p:grpSpPr>
        <a:xfrm>
          <a:off x="0" y="0"/>
          <a:ext cx="0" cy="0"/>
          <a:chOff x="0" y="0"/>
          <a:chExt cx="0" cy="0"/>
        </a:xfrm>
      </p:grpSpPr>
      <p:sp>
        <p:nvSpPr>
          <p:cNvPr id="148" name="Google Shape;148;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5.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1C458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1C4587"/>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Char char="●"/>
              <a:defRPr sz="1800">
                <a:solidFill>
                  <a:schemeClr val="lt2"/>
                </a:solidFill>
              </a:defRPr>
            </a:lvl1pPr>
            <a:lvl2pPr indent="-317500" lvl="1" marL="914400" rtl="0">
              <a:lnSpc>
                <a:spcPct val="115000"/>
              </a:lnSpc>
              <a:spcBef>
                <a:spcPts val="1600"/>
              </a:spcBef>
              <a:spcAft>
                <a:spcPts val="0"/>
              </a:spcAft>
              <a:buClr>
                <a:schemeClr val="lt2"/>
              </a:buClr>
              <a:buSzPts val="1400"/>
              <a:buChar char="○"/>
              <a:defRPr>
                <a:solidFill>
                  <a:schemeClr val="lt2"/>
                </a:solidFill>
              </a:defRPr>
            </a:lvl2pPr>
            <a:lvl3pPr indent="-317500" lvl="2" marL="1371600" rtl="0">
              <a:lnSpc>
                <a:spcPct val="115000"/>
              </a:lnSpc>
              <a:spcBef>
                <a:spcPts val="1600"/>
              </a:spcBef>
              <a:spcAft>
                <a:spcPts val="0"/>
              </a:spcAft>
              <a:buClr>
                <a:schemeClr val="lt2"/>
              </a:buClr>
              <a:buSzPts val="1400"/>
              <a:buChar char="■"/>
              <a:defRPr>
                <a:solidFill>
                  <a:schemeClr val="lt2"/>
                </a:solidFill>
              </a:defRPr>
            </a:lvl3pPr>
            <a:lvl4pPr indent="-317500" lvl="3" marL="1828800" rtl="0">
              <a:lnSpc>
                <a:spcPct val="115000"/>
              </a:lnSpc>
              <a:spcBef>
                <a:spcPts val="1600"/>
              </a:spcBef>
              <a:spcAft>
                <a:spcPts val="0"/>
              </a:spcAft>
              <a:buClr>
                <a:schemeClr val="lt2"/>
              </a:buClr>
              <a:buSzPts val="1400"/>
              <a:buChar char="●"/>
              <a:defRPr>
                <a:solidFill>
                  <a:schemeClr val="lt2"/>
                </a:solidFill>
              </a:defRPr>
            </a:lvl4pPr>
            <a:lvl5pPr indent="-317500" lvl="4" marL="2286000" rtl="0">
              <a:lnSpc>
                <a:spcPct val="115000"/>
              </a:lnSpc>
              <a:spcBef>
                <a:spcPts val="1600"/>
              </a:spcBef>
              <a:spcAft>
                <a:spcPts val="0"/>
              </a:spcAft>
              <a:buClr>
                <a:schemeClr val="lt2"/>
              </a:buClr>
              <a:buSzPts val="1400"/>
              <a:buChar char="○"/>
              <a:defRPr>
                <a:solidFill>
                  <a:schemeClr val="lt2"/>
                </a:solidFill>
              </a:defRPr>
            </a:lvl5pPr>
            <a:lvl6pPr indent="-317500" lvl="5" marL="2743200" rtl="0">
              <a:lnSpc>
                <a:spcPct val="115000"/>
              </a:lnSpc>
              <a:spcBef>
                <a:spcPts val="1600"/>
              </a:spcBef>
              <a:spcAft>
                <a:spcPts val="0"/>
              </a:spcAft>
              <a:buClr>
                <a:schemeClr val="lt2"/>
              </a:buClr>
              <a:buSzPts val="1400"/>
              <a:buChar char="■"/>
              <a:defRPr>
                <a:solidFill>
                  <a:schemeClr val="lt2"/>
                </a:solidFill>
              </a:defRPr>
            </a:lvl6pPr>
            <a:lvl7pPr indent="-317500" lvl="6" marL="3200400" rtl="0">
              <a:lnSpc>
                <a:spcPct val="115000"/>
              </a:lnSpc>
              <a:spcBef>
                <a:spcPts val="1600"/>
              </a:spcBef>
              <a:spcAft>
                <a:spcPts val="0"/>
              </a:spcAft>
              <a:buClr>
                <a:schemeClr val="lt2"/>
              </a:buClr>
              <a:buSzPts val="1400"/>
              <a:buChar char="●"/>
              <a:defRPr>
                <a:solidFill>
                  <a:schemeClr val="lt2"/>
                </a:solidFill>
              </a:defRPr>
            </a:lvl7pPr>
            <a:lvl8pPr indent="-317500" lvl="7" marL="3657600" rtl="0">
              <a:lnSpc>
                <a:spcPct val="115000"/>
              </a:lnSpc>
              <a:spcBef>
                <a:spcPts val="1600"/>
              </a:spcBef>
              <a:spcAft>
                <a:spcPts val="0"/>
              </a:spcAft>
              <a:buClr>
                <a:schemeClr val="lt2"/>
              </a:buClr>
              <a:buSzPts val="1400"/>
              <a:buChar char="○"/>
              <a:defRPr>
                <a:solidFill>
                  <a:schemeClr val="lt2"/>
                </a:solidFill>
              </a:defRPr>
            </a:lvl8pPr>
            <a:lvl9pPr indent="-317500" lvl="8" marL="4114800" rtl="0">
              <a:lnSpc>
                <a:spcPct val="115000"/>
              </a:lnSpc>
              <a:spcBef>
                <a:spcPts val="1600"/>
              </a:spcBef>
              <a:spcAft>
                <a:spcPts val="1600"/>
              </a:spcAft>
              <a:buClr>
                <a:schemeClr val="lt2"/>
              </a:buClr>
              <a:buSzPts val="1400"/>
              <a:buChar char="■"/>
              <a:defRPr>
                <a:solidFill>
                  <a:schemeClr val="lt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defRPr>
            </a:lvl1pPr>
            <a:lvl2pPr lvl="1" rtl="0" algn="r">
              <a:buNone/>
              <a:defRPr sz="1000">
                <a:solidFill>
                  <a:schemeClr val="lt2"/>
                </a:solidFill>
              </a:defRPr>
            </a:lvl2pPr>
            <a:lvl3pPr lvl="2" rtl="0" algn="r">
              <a:buNone/>
              <a:defRPr sz="1000">
                <a:solidFill>
                  <a:schemeClr val="lt2"/>
                </a:solidFill>
              </a:defRPr>
            </a:lvl3pPr>
            <a:lvl4pPr lvl="3" rtl="0" algn="r">
              <a:buNone/>
              <a:defRPr sz="1000">
                <a:solidFill>
                  <a:schemeClr val="lt2"/>
                </a:solidFill>
              </a:defRPr>
            </a:lvl4pPr>
            <a:lvl5pPr lvl="4" rtl="0" algn="r">
              <a:buNone/>
              <a:defRPr sz="1000">
                <a:solidFill>
                  <a:schemeClr val="lt2"/>
                </a:solidFill>
              </a:defRPr>
            </a:lvl5pPr>
            <a:lvl6pPr lvl="5" rtl="0" algn="r">
              <a:buNone/>
              <a:defRPr sz="1000">
                <a:solidFill>
                  <a:schemeClr val="lt2"/>
                </a:solidFill>
              </a:defRPr>
            </a:lvl6pPr>
            <a:lvl7pPr lvl="6" rtl="0" algn="r">
              <a:buNone/>
              <a:defRPr sz="1000">
                <a:solidFill>
                  <a:schemeClr val="lt2"/>
                </a:solidFill>
              </a:defRPr>
            </a:lvl7pPr>
            <a:lvl8pPr lvl="7" rtl="0" algn="r">
              <a:buNone/>
              <a:defRPr sz="1000">
                <a:solidFill>
                  <a:schemeClr val="lt2"/>
                </a:solidFill>
              </a:defRPr>
            </a:lvl8pPr>
            <a:lvl9pPr lvl="8" rtl="0"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rt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97" name="Google Shape;97;p2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rtl="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8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create.kahoot.it/details/1fddc77e-d19c-4069-a391-6511e1f4dab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hyperlink" Target="https://docs.google.com/document/u/0/d/1ykTFPsLP52V4Owxk8P4lx8HCSZXhixwyaOykhuX9N_E/ed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hyperlink" Target="https://www.youtube.com/watch?v=URUJD5NEXC8" TargetMode="External"/><Relationship Id="rId4" Type="http://schemas.openxmlformats.org/officeDocument/2006/relationships/hyperlink" Target="https://docs.google.com/document/u/0/d/1n2X1rLuHK43fYuj1-FLz9O89czd8pdYmJDAmeGl-Ytk/edit" TargetMode="External"/><Relationship Id="rId5" Type="http://schemas.openxmlformats.org/officeDocument/2006/relationships/hyperlink" Target="https://www.cellsalive.com/cells/cell_model_js.ht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hyperlink" Target="https://drive.google.com/file/d/1Amy8j9bLQz4EJc-LWxKojVNzgCBh-mMc/view?usp=drive_link"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hyperlink" Target="https://docs.google.com/document/u/0/d/1Qpj9OT0AARQNk9-_wxbg2opPrJ202eC5TlrqpCSxxKw/edit" TargetMode="External"/><Relationship Id="rId4" Type="http://schemas.openxmlformats.org/officeDocument/2006/relationships/hyperlink" Target="https://thinkingpathwayz.weebly.com/giveonegetone.html" TargetMode="External"/><Relationship Id="rId5" Type="http://schemas.openxmlformats.org/officeDocument/2006/relationships/hyperlink" Target="https://aischennai.padlet.org/vlakshmi2/cell-organelle-activity-block-a1-sn8l9j05hgrv9l29" TargetMode="External"/><Relationship Id="rId6" Type="http://schemas.openxmlformats.org/officeDocument/2006/relationships/hyperlink" Target="https://aischennai.padlet.org/vlakshmi2/ltu98q6c50oowxd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hyperlink" Target="https://www.cellsalive.fun/cellsalive_files/cells/cell_model_js.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hyperlink" Target="https://www.loom.com/share/b64738929c3c4bdcbfd1e4b7955b93d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hyperlink" Target="https://www.youtube.com/watch?v=URUJD5NEXC8" TargetMode="External"/><Relationship Id="rId4" Type="http://schemas.openxmlformats.org/officeDocument/2006/relationships/hyperlink" Target="https://docs.google.com/document/d/1XDbyuyYLACYa0THhax6EmepSM6mH1QTLKsE6HwQbLHw/edit?usp=sharing" TargetMode="External"/><Relationship Id="rId5"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hyperlink" Target="https://drive.google.com/file/d/1OxkAZUkmgb_sGrz2MB6wvYn93nQigcAZ/view?usp=sharing"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hyperlink" Target="https://www.cellsalive.com/cells/cell_model.htm" TargetMode="External"/><Relationship Id="rId4" Type="http://schemas.openxmlformats.org/officeDocument/2006/relationships/hyperlink" Target="https://www.footprints-science.co.uk/index.php?type=Plant%20and%20animal%20cells" TargetMode="External"/><Relationship Id="rId5" Type="http://schemas.openxmlformats.org/officeDocument/2006/relationships/hyperlink" Target="https://drive.google.com/file/d/15-2LXvPtKCsO-D1mrZMF2bkZi1d6PxPQ/view?usp=sharing"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hyperlink" Target="https://create.kahoot.it/details/6accf997-bc9b-42a7-8dbf-f4f9e2bc6f0f" TargetMode="External"/><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39"/>
          <p:cNvPicPr preferRelativeResize="0"/>
          <p:nvPr/>
        </p:nvPicPr>
        <p:blipFill>
          <a:blip r:embed="rId3">
            <a:alphaModFix/>
          </a:blip>
          <a:stretch>
            <a:fillRect/>
          </a:stretch>
        </p:blipFill>
        <p:spPr>
          <a:xfrm>
            <a:off x="888225" y="134275"/>
            <a:ext cx="7108174" cy="4771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40"/>
          <p:cNvSpPr txBox="1"/>
          <p:nvPr>
            <p:ph type="title"/>
          </p:nvPr>
        </p:nvSpPr>
        <p:spPr>
          <a:xfrm>
            <a:off x="1089450" y="2056553"/>
            <a:ext cx="6965100" cy="147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Welcoming Mistakes</a:t>
            </a:r>
            <a:endParaRPr/>
          </a:p>
          <a:p>
            <a:pPr indent="0" lvl="0" marL="0" rtl="0" algn="l">
              <a:spcBef>
                <a:spcPts val="0"/>
              </a:spcBef>
              <a:spcAft>
                <a:spcPts val="0"/>
              </a:spcAft>
              <a:buNone/>
            </a:pPr>
            <a:r>
              <a:rPr lang="en"/>
              <a:t>&amp;</a:t>
            </a:r>
            <a:endParaRPr/>
          </a:p>
          <a:p>
            <a:pPr indent="0" lvl="0" marL="0" rtl="0" algn="l">
              <a:spcBef>
                <a:spcPts val="0"/>
              </a:spcBef>
              <a:spcAft>
                <a:spcPts val="0"/>
              </a:spcAft>
              <a:buNone/>
            </a:pPr>
            <a:r>
              <a:rPr lang="en"/>
              <a:t>Asking Questions</a:t>
            </a:r>
            <a:endParaRPr/>
          </a:p>
        </p:txBody>
      </p:sp>
      <p:pic>
        <p:nvPicPr>
          <p:cNvPr id="161" name="Google Shape;161;p40"/>
          <p:cNvPicPr preferRelativeResize="0"/>
          <p:nvPr/>
        </p:nvPicPr>
        <p:blipFill>
          <a:blip r:embed="rId3">
            <a:alphaModFix/>
          </a:blip>
          <a:stretch>
            <a:fillRect/>
          </a:stretch>
        </p:blipFill>
        <p:spPr>
          <a:xfrm>
            <a:off x="752100" y="3664744"/>
            <a:ext cx="7650950" cy="1703776"/>
          </a:xfrm>
          <a:prstGeom prst="rect">
            <a:avLst/>
          </a:prstGeom>
          <a:noFill/>
          <a:ln>
            <a:noFill/>
          </a:ln>
        </p:spPr>
      </p:pic>
      <p:pic>
        <p:nvPicPr>
          <p:cNvPr id="162" name="Google Shape;162;p40"/>
          <p:cNvPicPr preferRelativeResize="0"/>
          <p:nvPr/>
        </p:nvPicPr>
        <p:blipFill>
          <a:blip r:embed="rId4">
            <a:alphaModFix/>
          </a:blip>
          <a:stretch>
            <a:fillRect/>
          </a:stretch>
        </p:blipFill>
        <p:spPr>
          <a:xfrm rot="-1334979">
            <a:off x="825686" y="471792"/>
            <a:ext cx="2574703" cy="16015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1"/>
          <p:cNvSpPr txBox="1"/>
          <p:nvPr>
            <p:ph type="title"/>
          </p:nvPr>
        </p:nvSpPr>
        <p:spPr>
          <a:xfrm>
            <a:off x="311700" y="104975"/>
            <a:ext cx="8520600" cy="91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t>Agenda</a:t>
            </a:r>
            <a:endParaRPr b="1" sz="4000"/>
          </a:p>
        </p:txBody>
      </p:sp>
      <p:sp>
        <p:nvSpPr>
          <p:cNvPr id="168" name="Google Shape;168;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Clr>
                <a:srgbClr val="FFFF00"/>
              </a:buClr>
              <a:buSzPts val="2300"/>
              <a:buChar char="●"/>
            </a:pPr>
            <a:r>
              <a:rPr b="1" lang="en" sz="2300">
                <a:solidFill>
                  <a:srgbClr val="FFFF00"/>
                </a:solidFill>
              </a:rPr>
              <a:t>Inclusion</a:t>
            </a:r>
            <a:endParaRPr b="1" sz="2300">
              <a:solidFill>
                <a:srgbClr val="FFFF00"/>
              </a:solidFill>
            </a:endParaRPr>
          </a:p>
          <a:p>
            <a:pPr indent="-374650" lvl="0" marL="457200" rtl="0" algn="l">
              <a:spcBef>
                <a:spcPts val="0"/>
              </a:spcBef>
              <a:spcAft>
                <a:spcPts val="0"/>
              </a:spcAft>
              <a:buClr>
                <a:srgbClr val="FFFF00"/>
              </a:buClr>
              <a:buSzPts val="2300"/>
              <a:buChar char="●"/>
            </a:pPr>
            <a:r>
              <a:rPr b="1" lang="en" sz="2300">
                <a:solidFill>
                  <a:srgbClr val="FFFF00"/>
                </a:solidFill>
              </a:rPr>
              <a:t>Kahoot Quiz on cell introduction and Prokaryotic cell</a:t>
            </a:r>
            <a:endParaRPr b="1" sz="2300">
              <a:solidFill>
                <a:srgbClr val="FFFF00"/>
              </a:solidFill>
            </a:endParaRPr>
          </a:p>
          <a:p>
            <a:pPr indent="-374650" lvl="0" marL="457200" rtl="0" algn="l">
              <a:spcBef>
                <a:spcPts val="0"/>
              </a:spcBef>
              <a:spcAft>
                <a:spcPts val="0"/>
              </a:spcAft>
              <a:buClr>
                <a:srgbClr val="FFFF00"/>
              </a:buClr>
              <a:buSzPts val="2300"/>
              <a:buChar char="●"/>
            </a:pPr>
            <a:r>
              <a:rPr b="1" lang="en" sz="2300">
                <a:solidFill>
                  <a:srgbClr val="FFFF00"/>
                </a:solidFill>
              </a:rPr>
              <a:t>Know and understand the structure and functions of cell organelles of eukaryotic cells.</a:t>
            </a:r>
            <a:endParaRPr b="1" sz="2300">
              <a:solidFill>
                <a:srgbClr val="FFFF00"/>
              </a:solidFill>
            </a:endParaRPr>
          </a:p>
          <a:p>
            <a:pPr indent="-374650" lvl="0" marL="457200" rtl="0" algn="l">
              <a:spcBef>
                <a:spcPts val="0"/>
              </a:spcBef>
              <a:spcAft>
                <a:spcPts val="0"/>
              </a:spcAft>
              <a:buClr>
                <a:srgbClr val="FFFF00"/>
              </a:buClr>
              <a:buSzPts val="2300"/>
              <a:buChar char="●"/>
            </a:pPr>
            <a:r>
              <a:rPr b="1" lang="en" sz="2300">
                <a:solidFill>
                  <a:srgbClr val="FFFF00"/>
                </a:solidFill>
              </a:rPr>
              <a:t>Cell Organelle Activities</a:t>
            </a:r>
            <a:endParaRPr b="1" sz="2300">
              <a:solidFill>
                <a:srgbClr val="FFFF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Time/Warm up</a:t>
            </a:r>
            <a:endParaRPr/>
          </a:p>
        </p:txBody>
      </p:sp>
      <p:sp>
        <p:nvSpPr>
          <p:cNvPr id="174" name="Google Shape;174;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u="sng">
                <a:solidFill>
                  <a:srgbClr val="FFFF00"/>
                </a:solidFill>
                <a:hlinkClick r:id="rId3">
                  <a:extLst>
                    <a:ext uri="{A12FA001-AC4F-418D-AE19-62706E023703}">
                      <ahyp:hlinkClr val="tx"/>
                    </a:ext>
                  </a:extLst>
                </a:hlinkClick>
              </a:rPr>
              <a:t>Kahoot quiz on Cell Introduction and Prokaryotic cell</a:t>
            </a:r>
            <a:endParaRPr b="1" sz="1900">
              <a:solidFill>
                <a:srgbClr val="FFFF00"/>
              </a:solidFill>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Kahoot Quiz</a:t>
            </a:r>
            <a:endParaRPr/>
          </a:p>
        </p:txBody>
      </p:sp>
      <p:sp>
        <p:nvSpPr>
          <p:cNvPr id="180" name="Google Shape;180;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81" name="Google Shape;181;p43"/>
          <p:cNvPicPr preferRelativeResize="0"/>
          <p:nvPr/>
        </p:nvPicPr>
        <p:blipFill>
          <a:blip r:embed="rId3">
            <a:alphaModFix/>
          </a:blip>
          <a:stretch>
            <a:fillRect/>
          </a:stretch>
        </p:blipFill>
        <p:spPr>
          <a:xfrm>
            <a:off x="130738" y="1312988"/>
            <a:ext cx="8105775" cy="3000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solidFill>
                  <a:srgbClr val="FFFF00"/>
                </a:solidFill>
              </a:rPr>
              <a:t>Learning Intentions for today’s lesson</a:t>
            </a:r>
            <a:endParaRPr b="1" i="1">
              <a:solidFill>
                <a:srgbClr val="FFFF00"/>
              </a:solidFill>
            </a:endParaRPr>
          </a:p>
        </p:txBody>
      </p:sp>
      <p:sp>
        <p:nvSpPr>
          <p:cNvPr id="187" name="Google Shape;187;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FFFFFF"/>
              </a:buClr>
              <a:buSzPts val="2400"/>
              <a:buChar char="●"/>
            </a:pPr>
            <a:r>
              <a:rPr lang="en" sz="2400">
                <a:solidFill>
                  <a:srgbClr val="FFFFFF"/>
                </a:solidFill>
              </a:rPr>
              <a:t>Know the key vocabulary related to </a:t>
            </a:r>
            <a:r>
              <a:rPr b="1" lang="en" sz="2400">
                <a:solidFill>
                  <a:srgbClr val="FFFF00"/>
                </a:solidFill>
              </a:rPr>
              <a:t>Eukaryotic cell organelles and their functions</a:t>
            </a:r>
            <a:r>
              <a:rPr b="1" lang="en" sz="3000">
                <a:solidFill>
                  <a:srgbClr val="FFFF00"/>
                </a:solidFill>
              </a:rPr>
              <a:t>.</a:t>
            </a:r>
            <a:endParaRPr b="1" sz="3000">
              <a:solidFill>
                <a:srgbClr val="FFFF00"/>
              </a:solidFill>
            </a:endParaRPr>
          </a:p>
          <a:p>
            <a:pPr indent="-381000" lvl="0" marL="457200" rtl="0" algn="l">
              <a:spcBef>
                <a:spcPts val="0"/>
              </a:spcBef>
              <a:spcAft>
                <a:spcPts val="0"/>
              </a:spcAft>
              <a:buClr>
                <a:srgbClr val="FFFFFF"/>
              </a:buClr>
              <a:buSzPts val="2400"/>
              <a:buChar char="●"/>
            </a:pPr>
            <a:r>
              <a:rPr lang="en" sz="2400">
                <a:solidFill>
                  <a:srgbClr val="FFFFFF"/>
                </a:solidFill>
              </a:rPr>
              <a:t>Able to identify the organelles in a given diagram</a:t>
            </a:r>
            <a:endParaRPr sz="2400">
              <a:solidFill>
                <a:srgbClr val="FFFFFF"/>
              </a:solidFill>
            </a:endParaRPr>
          </a:p>
          <a:p>
            <a:pPr indent="-381000" lvl="0" marL="457200" rtl="0" algn="l">
              <a:spcBef>
                <a:spcPts val="0"/>
              </a:spcBef>
              <a:spcAft>
                <a:spcPts val="0"/>
              </a:spcAft>
              <a:buClr>
                <a:srgbClr val="FFFFFF"/>
              </a:buClr>
              <a:buSzPts val="2400"/>
              <a:buChar char="●"/>
            </a:pPr>
            <a:r>
              <a:rPr lang="en" sz="2400">
                <a:solidFill>
                  <a:srgbClr val="FFFFFF"/>
                </a:solidFill>
              </a:rPr>
              <a:t>Need to understand the </a:t>
            </a:r>
            <a:r>
              <a:rPr b="1" lang="en" sz="2400">
                <a:solidFill>
                  <a:srgbClr val="FFFF00"/>
                </a:solidFill>
              </a:rPr>
              <a:t>integration of organelles in performing specific function.</a:t>
            </a:r>
            <a:endParaRPr b="1" sz="1100">
              <a:solidFill>
                <a:srgbClr val="FFFF00"/>
              </a:solidFill>
            </a:endParaRPr>
          </a:p>
        </p:txBody>
      </p:sp>
      <p:sp>
        <p:nvSpPr>
          <p:cNvPr id="188" name="Google Shape;188;p44"/>
          <p:cNvSpPr txBox="1"/>
          <p:nvPr/>
        </p:nvSpPr>
        <p:spPr>
          <a:xfrm>
            <a:off x="2699450" y="3292075"/>
            <a:ext cx="3854700" cy="72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0">
                <a:solidFill>
                  <a:srgbClr val="FFFF00"/>
                </a:solidFill>
              </a:rPr>
              <a:t>MIP</a:t>
            </a:r>
            <a:endParaRPr sz="6000">
              <a:solidFill>
                <a:srgbClr val="FFFF00"/>
              </a:solidFill>
            </a:endParaRPr>
          </a:p>
        </p:txBody>
      </p:sp>
      <p:sp>
        <p:nvSpPr>
          <p:cNvPr id="189" name="Google Shape;189;p44"/>
          <p:cNvSpPr txBox="1"/>
          <p:nvPr/>
        </p:nvSpPr>
        <p:spPr>
          <a:xfrm>
            <a:off x="698525" y="3836325"/>
            <a:ext cx="1473000" cy="4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4800">
              <a:solidFill>
                <a:srgbClr val="FF0000"/>
              </a:solidFill>
            </a:endParaRPr>
          </a:p>
        </p:txBody>
      </p:sp>
      <p:pic>
        <p:nvPicPr>
          <p:cNvPr id="190" name="Google Shape;190;p44"/>
          <p:cNvPicPr preferRelativeResize="0"/>
          <p:nvPr/>
        </p:nvPicPr>
        <p:blipFill>
          <a:blip r:embed="rId3">
            <a:alphaModFix/>
          </a:blip>
          <a:stretch>
            <a:fillRect/>
          </a:stretch>
        </p:blipFill>
        <p:spPr>
          <a:xfrm rot="1827483">
            <a:off x="6951076" y="3143862"/>
            <a:ext cx="1851424" cy="1851424"/>
          </a:xfrm>
          <a:prstGeom prst="rect">
            <a:avLst/>
          </a:prstGeom>
          <a:noFill/>
          <a:ln>
            <a:noFill/>
          </a:ln>
        </p:spPr>
      </p:pic>
      <p:pic>
        <p:nvPicPr>
          <p:cNvPr id="191" name="Google Shape;191;p44"/>
          <p:cNvPicPr preferRelativeResize="0"/>
          <p:nvPr/>
        </p:nvPicPr>
        <p:blipFill>
          <a:blip r:embed="rId3">
            <a:alphaModFix/>
          </a:blip>
          <a:stretch>
            <a:fillRect/>
          </a:stretch>
        </p:blipFill>
        <p:spPr>
          <a:xfrm rot="1827483">
            <a:off x="653201" y="3143862"/>
            <a:ext cx="1851424" cy="1851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Link to the Vocabulary Wall</a:t>
            </a:r>
            <a:endParaRPr/>
          </a:p>
        </p:txBody>
      </p:sp>
      <p:sp>
        <p:nvSpPr>
          <p:cNvPr id="197" name="Google Shape;197;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300"/>
              <a:t>What strategies might you use to learn the vocabulary for this unit?</a:t>
            </a:r>
            <a:endParaRPr b="1" sz="2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6"/>
          <p:cNvSpPr txBox="1"/>
          <p:nvPr>
            <p:ph type="title"/>
          </p:nvPr>
        </p:nvSpPr>
        <p:spPr>
          <a:xfrm>
            <a:off x="311700" y="-52275"/>
            <a:ext cx="8520600" cy="107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Watch this video and answer the guided Questions</a:t>
            </a:r>
            <a:endParaRPr b="1"/>
          </a:p>
        </p:txBody>
      </p:sp>
      <p:sp>
        <p:nvSpPr>
          <p:cNvPr id="203" name="Google Shape;203;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2000">
                <a:solidFill>
                  <a:srgbClr val="FFFF00"/>
                </a:solidFill>
              </a:rPr>
              <a:t>Watch this </a:t>
            </a:r>
            <a:r>
              <a:rPr b="1" lang="en" sz="2000" u="sng">
                <a:solidFill>
                  <a:srgbClr val="FFFF00"/>
                </a:solidFill>
                <a:hlinkClick r:id="rId3">
                  <a:extLst>
                    <a:ext uri="{A12FA001-AC4F-418D-AE19-62706E023703}">
                      <ahyp:hlinkClr val="tx"/>
                    </a:ext>
                  </a:extLst>
                </a:hlinkClick>
              </a:rPr>
              <a:t>video</a:t>
            </a:r>
            <a:r>
              <a:rPr b="1" lang="en" sz="2000">
                <a:solidFill>
                  <a:srgbClr val="FFFF00"/>
                </a:solidFill>
              </a:rPr>
              <a:t> and complete this </a:t>
            </a:r>
            <a:r>
              <a:rPr b="1" lang="en" sz="2000" u="sng">
                <a:solidFill>
                  <a:srgbClr val="FFFF00"/>
                </a:solidFill>
                <a:hlinkClick r:id="rId4">
                  <a:extLst>
                    <a:ext uri="{A12FA001-AC4F-418D-AE19-62706E023703}">
                      <ahyp:hlinkClr val="tx"/>
                    </a:ext>
                  </a:extLst>
                </a:hlinkClick>
              </a:rPr>
              <a:t>handout </a:t>
            </a:r>
            <a:r>
              <a:rPr b="1" lang="en" sz="2000">
                <a:solidFill>
                  <a:srgbClr val="FFFF00"/>
                </a:solidFill>
              </a:rPr>
              <a:t>based on the video</a:t>
            </a:r>
            <a:endParaRPr b="1" sz="2000">
              <a:solidFill>
                <a:srgbClr val="FFFF00"/>
              </a:solidFill>
            </a:endParaRPr>
          </a:p>
          <a:p>
            <a:pPr indent="0" lvl="0" marL="0" rtl="0" algn="l">
              <a:lnSpc>
                <a:spcPct val="100000"/>
              </a:lnSpc>
              <a:spcBef>
                <a:spcPts val="0"/>
              </a:spcBef>
              <a:spcAft>
                <a:spcPts val="0"/>
              </a:spcAft>
              <a:buNone/>
            </a:pPr>
            <a:r>
              <a:rPr b="1" lang="en" sz="1900">
                <a:solidFill>
                  <a:srgbClr val="FFFF00"/>
                </a:solidFill>
              </a:rPr>
              <a:t>Use this</a:t>
            </a:r>
            <a:r>
              <a:rPr b="1" lang="en" sz="1900" u="sng">
                <a:solidFill>
                  <a:srgbClr val="FFFF00"/>
                </a:solidFill>
                <a:hlinkClick r:id="rId5">
                  <a:extLst>
                    <a:ext uri="{A12FA001-AC4F-418D-AE19-62706E023703}">
                      <ahyp:hlinkClr val="tx"/>
                    </a:ext>
                  </a:extLst>
                </a:hlinkClick>
              </a:rPr>
              <a:t> interactive</a:t>
            </a:r>
            <a:r>
              <a:rPr b="1" lang="en" sz="1900">
                <a:solidFill>
                  <a:srgbClr val="FFFF00"/>
                </a:solidFill>
              </a:rPr>
              <a:t> to get familiar with the parts of a plant and an animal cell</a:t>
            </a:r>
            <a:endParaRPr b="1" sz="1900">
              <a:solidFill>
                <a:srgbClr val="FFFF00"/>
              </a:solidFill>
            </a:endParaRPr>
          </a:p>
          <a:p>
            <a:pPr indent="0" lvl="0" marL="0" rtl="0" algn="l">
              <a:spcBef>
                <a:spcPts val="0"/>
              </a:spcBef>
              <a:spcAft>
                <a:spcPts val="1600"/>
              </a:spcAft>
              <a:buNone/>
            </a:pPr>
            <a:r>
              <a:t/>
            </a:r>
            <a:endParaRPr b="1" sz="3500">
              <a:solidFill>
                <a:srgbClr val="FFFF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47"/>
          <p:cNvPicPr preferRelativeResize="0"/>
          <p:nvPr/>
        </p:nvPicPr>
        <p:blipFill>
          <a:blip r:embed="rId3">
            <a:alphaModFix/>
          </a:blip>
          <a:stretch>
            <a:fillRect/>
          </a:stretch>
        </p:blipFill>
        <p:spPr>
          <a:xfrm>
            <a:off x="2190750" y="57150"/>
            <a:ext cx="4762500" cy="5029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18/8</a:t>
            </a:r>
            <a:endParaRPr/>
          </a:p>
        </p:txBody>
      </p:sp>
      <p:sp>
        <p:nvSpPr>
          <p:cNvPr id="214" name="Google Shape;214;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a:t>
            </a:r>
            <a:r>
              <a:rPr b="1" lang="en">
                <a:solidFill>
                  <a:srgbClr val="EAD1DC"/>
                </a:solidFill>
              </a:rPr>
              <a:t>HW Check in</a:t>
            </a:r>
            <a:endParaRPr b="1">
              <a:solidFill>
                <a:srgbClr val="EAD1DC"/>
              </a:solidFill>
            </a:endParaRPr>
          </a:p>
          <a:p>
            <a:pPr indent="0" lvl="0" marL="0" rtl="0" algn="l">
              <a:spcBef>
                <a:spcPts val="1600"/>
              </a:spcBef>
              <a:spcAft>
                <a:spcPts val="0"/>
              </a:spcAft>
              <a:buNone/>
            </a:pPr>
            <a:r>
              <a:rPr b="1" lang="en">
                <a:solidFill>
                  <a:srgbClr val="EAD1DC"/>
                </a:solidFill>
              </a:rPr>
              <a:t>2. Cell Organelle Activity</a:t>
            </a:r>
            <a:endParaRPr b="1">
              <a:solidFill>
                <a:srgbClr val="EAD1DC"/>
              </a:solidFill>
            </a:endParaRPr>
          </a:p>
          <a:p>
            <a:pPr indent="0" lvl="0" marL="0" rtl="0" algn="l">
              <a:spcBef>
                <a:spcPts val="1600"/>
              </a:spcBef>
              <a:spcAft>
                <a:spcPts val="0"/>
              </a:spcAft>
              <a:buNone/>
            </a:pPr>
            <a:r>
              <a:rPr b="1" lang="en">
                <a:solidFill>
                  <a:srgbClr val="EAD1DC"/>
                </a:solidFill>
              </a:rPr>
              <a:t>3. Eukaryotic cell organelles</a:t>
            </a:r>
            <a:endParaRPr b="1">
              <a:solidFill>
                <a:srgbClr val="EAD1DC"/>
              </a:solidFill>
            </a:endParaRPr>
          </a:p>
          <a:p>
            <a:pPr indent="0" lvl="0" marL="0" rtl="0" algn="l">
              <a:spcBef>
                <a:spcPts val="1600"/>
              </a:spcBef>
              <a:spcAft>
                <a:spcPts val="0"/>
              </a:spcAft>
              <a:buNone/>
            </a:pPr>
            <a:r>
              <a:rPr b="1" lang="en">
                <a:solidFill>
                  <a:srgbClr val="EAD1DC"/>
                </a:solidFill>
              </a:rPr>
              <a:t>4. HW Handout</a:t>
            </a:r>
            <a:endParaRPr b="1">
              <a:solidFill>
                <a:srgbClr val="EAD1DC"/>
              </a:solidFill>
            </a:endParaRPr>
          </a:p>
          <a:p>
            <a:pPr indent="0" lvl="0" marL="0" rtl="0" algn="l">
              <a:lnSpc>
                <a:spcPct val="100000"/>
              </a:lnSpc>
              <a:spcBef>
                <a:spcPts val="1600"/>
              </a:spcBef>
              <a:spcAft>
                <a:spcPts val="0"/>
              </a:spcAft>
              <a:buNone/>
            </a:pPr>
            <a:r>
              <a:rPr b="1" lang="en" sz="2000">
                <a:solidFill>
                  <a:srgbClr val="FF00FF"/>
                </a:solidFill>
              </a:rPr>
              <a:t>Review functions of cell organelles </a:t>
            </a:r>
            <a:r>
              <a:rPr b="1" lang="en" sz="2000" u="sng">
                <a:solidFill>
                  <a:srgbClr val="FF00FF"/>
                </a:solidFill>
                <a:hlinkClick r:id="rId3">
                  <a:extLst>
                    <a:ext uri="{A12FA001-AC4F-418D-AE19-62706E023703}">
                      <ahyp:hlinkClr val="tx"/>
                    </a:ext>
                  </a:extLst>
                </a:hlinkClick>
              </a:rPr>
              <a:t>using this link</a:t>
            </a:r>
            <a:endParaRPr b="1" sz="2000">
              <a:solidFill>
                <a:srgbClr val="FF00FF"/>
              </a:solidFill>
            </a:endParaRPr>
          </a:p>
          <a:p>
            <a:pPr indent="0" lvl="0" marL="0" rtl="0" algn="l">
              <a:spcBef>
                <a:spcPts val="0"/>
              </a:spcBef>
              <a:spcAft>
                <a:spcPts val="0"/>
              </a:spcAft>
              <a:buNone/>
            </a:pPr>
            <a:r>
              <a:t/>
            </a:r>
            <a:endParaRPr b="1">
              <a:solidFill>
                <a:srgbClr val="EAD1DC"/>
              </a:solidFill>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49"/>
          <p:cNvPicPr preferRelativeResize="0"/>
          <p:nvPr/>
        </p:nvPicPr>
        <p:blipFill>
          <a:blip r:embed="rId3">
            <a:alphaModFix/>
          </a:blip>
          <a:stretch>
            <a:fillRect/>
          </a:stretch>
        </p:blipFill>
        <p:spPr>
          <a:xfrm>
            <a:off x="1360725" y="72800"/>
            <a:ext cx="6422549" cy="4997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50"/>
          <p:cNvSpPr txBox="1"/>
          <p:nvPr>
            <p:ph type="title"/>
          </p:nvPr>
        </p:nvSpPr>
        <p:spPr>
          <a:xfrm>
            <a:off x="311700" y="205750"/>
            <a:ext cx="8520600" cy="5343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a:t>Cell Organelle Activity</a:t>
            </a:r>
            <a:endParaRPr b="1"/>
          </a:p>
        </p:txBody>
      </p:sp>
      <p:sp>
        <p:nvSpPr>
          <p:cNvPr id="225" name="Google Shape;225;p50"/>
          <p:cNvSpPr txBox="1"/>
          <p:nvPr>
            <p:ph idx="1" type="body"/>
          </p:nvPr>
        </p:nvSpPr>
        <p:spPr>
          <a:xfrm>
            <a:off x="311700" y="1017725"/>
            <a:ext cx="8520600" cy="39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u="sng">
                <a:solidFill>
                  <a:schemeClr val="hlink"/>
                </a:solidFill>
                <a:hlinkClick r:id="rId3"/>
              </a:rPr>
              <a:t>Link to the Activity</a:t>
            </a:r>
            <a:endParaRPr b="1" sz="2300">
              <a:solidFill>
                <a:schemeClr val="accent6"/>
              </a:solidFill>
            </a:endParaRPr>
          </a:p>
          <a:p>
            <a:pPr indent="0" lvl="0" marL="0" rtl="0" algn="l">
              <a:spcBef>
                <a:spcPts val="1600"/>
              </a:spcBef>
              <a:spcAft>
                <a:spcPts val="0"/>
              </a:spcAft>
              <a:buNone/>
            </a:pPr>
            <a:r>
              <a:rPr b="1" lang="en" sz="2300">
                <a:solidFill>
                  <a:schemeClr val="accent6"/>
                </a:solidFill>
              </a:rPr>
              <a:t>You need to teach your partner the structure, functions, and location of your organelle. Then you learn organelle from others in the class. Finally you and your partner will make a reflection video based on your learning and strategy used</a:t>
            </a:r>
            <a:endParaRPr b="1" sz="2300">
              <a:solidFill>
                <a:schemeClr val="accent6"/>
              </a:solidFill>
            </a:endParaRPr>
          </a:p>
          <a:p>
            <a:pPr indent="0" lvl="0" marL="0" rtl="0" algn="l">
              <a:spcBef>
                <a:spcPts val="1600"/>
              </a:spcBef>
              <a:spcAft>
                <a:spcPts val="0"/>
              </a:spcAft>
              <a:buNone/>
            </a:pPr>
            <a:r>
              <a:rPr b="1" lang="en" sz="2300" u="sng">
                <a:solidFill>
                  <a:schemeClr val="hlink"/>
                </a:solidFill>
                <a:hlinkClick r:id="rId4"/>
              </a:rPr>
              <a:t>Give one and get one Strategy</a:t>
            </a:r>
            <a:endParaRPr b="1" sz="2300">
              <a:solidFill>
                <a:schemeClr val="accent6"/>
              </a:solidFill>
            </a:endParaRPr>
          </a:p>
          <a:p>
            <a:pPr indent="0" lvl="0" marL="0" rtl="0" algn="l">
              <a:spcBef>
                <a:spcPts val="1600"/>
              </a:spcBef>
              <a:spcAft>
                <a:spcPts val="0"/>
              </a:spcAft>
              <a:buNone/>
            </a:pPr>
            <a:r>
              <a:rPr b="1" lang="en" sz="2300" u="sng">
                <a:solidFill>
                  <a:schemeClr val="hlink"/>
                </a:solidFill>
                <a:hlinkClick r:id="rId5"/>
              </a:rPr>
              <a:t>Biology Block A1 Padlet</a:t>
            </a:r>
            <a:endParaRPr b="1" sz="2300">
              <a:solidFill>
                <a:srgbClr val="FFFF00"/>
              </a:solidFill>
            </a:endParaRPr>
          </a:p>
          <a:p>
            <a:pPr indent="0" lvl="0" marL="0" rtl="0" algn="l">
              <a:spcBef>
                <a:spcPts val="1600"/>
              </a:spcBef>
              <a:spcAft>
                <a:spcPts val="1600"/>
              </a:spcAft>
              <a:buNone/>
            </a:pPr>
            <a:r>
              <a:rPr b="1" lang="en" sz="2300" u="sng">
                <a:solidFill>
                  <a:srgbClr val="FFFF00"/>
                </a:solidFill>
                <a:hlinkClick r:id="rId6">
                  <a:extLst>
                    <a:ext uri="{A12FA001-AC4F-418D-AE19-62706E023703}">
                      <ahyp:hlinkClr val="tx"/>
                    </a:ext>
                  </a:extLst>
                </a:hlinkClick>
              </a:rPr>
              <a:t>Bio block B7 Padlet</a:t>
            </a:r>
            <a:r>
              <a:rPr b="1" lang="en" sz="2300">
                <a:solidFill>
                  <a:srgbClr val="FFFF00"/>
                </a:solidFill>
              </a:rPr>
              <a:t> (last year sample)</a:t>
            </a:r>
            <a:endParaRPr b="1" sz="2300">
              <a:solidFill>
                <a:srgbClr val="FFFF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Eukaryotic (plant) cells practice -</a:t>
            </a:r>
            <a:endParaRPr/>
          </a:p>
          <a:p>
            <a:pPr indent="0" lvl="0" marL="0" rtl="0" algn="l">
              <a:spcBef>
                <a:spcPts val="0"/>
              </a:spcBef>
              <a:spcAft>
                <a:spcPts val="0"/>
              </a:spcAft>
              <a:buNone/>
            </a:pPr>
            <a:r>
              <a:t/>
            </a:r>
            <a:endParaRPr/>
          </a:p>
        </p:txBody>
      </p:sp>
      <p:pic>
        <p:nvPicPr>
          <p:cNvPr id="231" name="Google Shape;231;p51"/>
          <p:cNvPicPr preferRelativeResize="0"/>
          <p:nvPr/>
        </p:nvPicPr>
        <p:blipFill>
          <a:blip r:embed="rId3">
            <a:alphaModFix/>
          </a:blip>
          <a:stretch>
            <a:fillRect/>
          </a:stretch>
        </p:blipFill>
        <p:spPr>
          <a:xfrm>
            <a:off x="152400" y="1170125"/>
            <a:ext cx="5911080" cy="3820974"/>
          </a:xfrm>
          <a:prstGeom prst="rect">
            <a:avLst/>
          </a:prstGeom>
          <a:noFill/>
          <a:ln>
            <a:noFill/>
          </a:ln>
        </p:spPr>
      </p:pic>
      <p:sp>
        <p:nvSpPr>
          <p:cNvPr id="232" name="Google Shape;232;p51"/>
          <p:cNvSpPr txBox="1"/>
          <p:nvPr/>
        </p:nvSpPr>
        <p:spPr>
          <a:xfrm>
            <a:off x="6063475" y="1848675"/>
            <a:ext cx="3080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00"/>
                </a:solidFill>
              </a:rPr>
              <a:t>Get familiar with the parts of a plant cell by using this </a:t>
            </a:r>
            <a:r>
              <a:rPr b="1" lang="en" sz="2000" u="sng">
                <a:solidFill>
                  <a:schemeClr val="hlink"/>
                </a:solidFill>
                <a:hlinkClick r:id="rId4"/>
              </a:rPr>
              <a:t>interactive</a:t>
            </a:r>
            <a:endParaRPr b="1" sz="2000">
              <a:solidFill>
                <a:srgbClr val="FFFF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Eukaryotic (animal) cells practice - link</a:t>
            </a:r>
            <a:endParaRPr/>
          </a:p>
        </p:txBody>
      </p:sp>
      <p:pic>
        <p:nvPicPr>
          <p:cNvPr id="238" name="Google Shape;238;p52"/>
          <p:cNvPicPr preferRelativeResize="0"/>
          <p:nvPr/>
        </p:nvPicPr>
        <p:blipFill>
          <a:blip r:embed="rId3">
            <a:alphaModFix/>
          </a:blip>
          <a:stretch>
            <a:fillRect/>
          </a:stretch>
        </p:blipFill>
        <p:spPr>
          <a:xfrm>
            <a:off x="152400" y="1170125"/>
            <a:ext cx="6068128" cy="3820973"/>
          </a:xfrm>
          <a:prstGeom prst="rect">
            <a:avLst/>
          </a:prstGeom>
          <a:noFill/>
          <a:ln>
            <a:noFill/>
          </a:ln>
        </p:spPr>
      </p:pic>
      <p:sp>
        <p:nvSpPr>
          <p:cNvPr id="239" name="Google Shape;239;p52"/>
          <p:cNvSpPr txBox="1"/>
          <p:nvPr/>
        </p:nvSpPr>
        <p:spPr>
          <a:xfrm>
            <a:off x="6150675" y="1958125"/>
            <a:ext cx="29934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FFFF00"/>
                </a:solidFill>
              </a:rPr>
              <a:t>Get familiar with the </a:t>
            </a:r>
            <a:endParaRPr b="1" sz="2000">
              <a:solidFill>
                <a:srgbClr val="FFFF00"/>
              </a:solidFill>
            </a:endParaRPr>
          </a:p>
          <a:p>
            <a:pPr indent="0" lvl="0" marL="0" rtl="0" algn="l">
              <a:spcBef>
                <a:spcPts val="0"/>
              </a:spcBef>
              <a:spcAft>
                <a:spcPts val="0"/>
              </a:spcAft>
              <a:buNone/>
            </a:pPr>
            <a:r>
              <a:rPr b="1" lang="en" sz="2000">
                <a:solidFill>
                  <a:srgbClr val="FFFF00"/>
                </a:solidFill>
              </a:rPr>
              <a:t>parts of an animal cell </a:t>
            </a:r>
            <a:endParaRPr b="1" sz="2000">
              <a:solidFill>
                <a:srgbClr val="FFFF00"/>
              </a:solidFill>
            </a:endParaRPr>
          </a:p>
          <a:p>
            <a:pPr indent="0" lvl="0" marL="0" rtl="0" algn="l">
              <a:spcBef>
                <a:spcPts val="0"/>
              </a:spcBef>
              <a:spcAft>
                <a:spcPts val="0"/>
              </a:spcAft>
              <a:buNone/>
            </a:pPr>
            <a:r>
              <a:rPr b="1" lang="en" sz="2000">
                <a:solidFill>
                  <a:srgbClr val="FFFF00"/>
                </a:solidFill>
              </a:rPr>
              <a:t>By using this interactive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 Wall</a:t>
            </a:r>
            <a:endParaRPr/>
          </a:p>
        </p:txBody>
      </p:sp>
      <p:sp>
        <p:nvSpPr>
          <p:cNvPr id="245" name="Google Shape;245;p53"/>
          <p:cNvSpPr txBox="1"/>
          <p:nvPr>
            <p:ph idx="1" type="body"/>
          </p:nvPr>
        </p:nvSpPr>
        <p:spPr>
          <a:xfrm>
            <a:off x="311700" y="1152475"/>
            <a:ext cx="37755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FFFFFF"/>
                </a:solidFill>
              </a:rPr>
              <a:t>Stiff, rigid structure that surrounds the cell membrane to support and protect the cell.</a:t>
            </a:r>
            <a:endParaRPr>
              <a:solidFill>
                <a:srgbClr val="FFFFFF"/>
              </a:solidFill>
            </a:endParaRPr>
          </a:p>
          <a:p>
            <a:pPr indent="0" lvl="0" marL="0" rtl="0" algn="l">
              <a:lnSpc>
                <a:spcPct val="100000"/>
              </a:lnSpc>
              <a:spcBef>
                <a:spcPts val="0"/>
              </a:spcBef>
              <a:spcAft>
                <a:spcPts val="0"/>
              </a:spcAft>
              <a:buNone/>
            </a:pPr>
            <a:r>
              <a:rPr lang="en">
                <a:solidFill>
                  <a:srgbClr val="FFFFFF"/>
                </a:solidFill>
              </a:rPr>
              <a:t>Cell wall in plant cells is made up of cellulose.</a:t>
            </a:r>
            <a:endParaRPr>
              <a:solidFill>
                <a:srgbClr val="FFFFFF"/>
              </a:solidFill>
            </a:endParaRPr>
          </a:p>
          <a:p>
            <a:pPr indent="0" lvl="0" marL="0" rtl="0" algn="l">
              <a:lnSpc>
                <a:spcPct val="100000"/>
              </a:lnSpc>
              <a:spcBef>
                <a:spcPts val="0"/>
              </a:spcBef>
              <a:spcAft>
                <a:spcPts val="0"/>
              </a:spcAft>
              <a:buNone/>
            </a:pPr>
            <a:r>
              <a:rPr lang="en">
                <a:solidFill>
                  <a:srgbClr val="FFFFFF"/>
                </a:solidFill>
              </a:rPr>
              <a:t>Cell wall in prokaryotic cell made up of peptidoglycan</a:t>
            </a:r>
            <a:endParaRPr>
              <a:solidFill>
                <a:srgbClr val="FFFFFF"/>
              </a:solidFill>
            </a:endParaRPr>
          </a:p>
          <a:p>
            <a:pPr indent="0" lvl="0" marL="0" rtl="0" algn="l">
              <a:spcBef>
                <a:spcPts val="0"/>
              </a:spcBef>
              <a:spcAft>
                <a:spcPts val="1600"/>
              </a:spcAft>
              <a:buNone/>
            </a:pPr>
            <a:r>
              <a:t/>
            </a:r>
            <a:endParaRPr/>
          </a:p>
        </p:txBody>
      </p:sp>
      <p:pic>
        <p:nvPicPr>
          <p:cNvPr id="246" name="Google Shape;246;p53"/>
          <p:cNvPicPr preferRelativeResize="0"/>
          <p:nvPr/>
        </p:nvPicPr>
        <p:blipFill>
          <a:blip r:embed="rId3">
            <a:alphaModFix/>
          </a:blip>
          <a:stretch>
            <a:fillRect/>
          </a:stretch>
        </p:blipFill>
        <p:spPr>
          <a:xfrm>
            <a:off x="4706250" y="930050"/>
            <a:ext cx="4232976" cy="4213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 Membrane</a:t>
            </a:r>
            <a:endParaRPr/>
          </a:p>
        </p:txBody>
      </p:sp>
      <p:sp>
        <p:nvSpPr>
          <p:cNvPr id="252" name="Google Shape;252;p54"/>
          <p:cNvSpPr txBox="1"/>
          <p:nvPr>
            <p:ph idx="1" type="body"/>
          </p:nvPr>
        </p:nvSpPr>
        <p:spPr>
          <a:xfrm>
            <a:off x="311700" y="1152475"/>
            <a:ext cx="3752700" cy="341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t/>
            </a:r>
            <a:endParaRPr sz="1500">
              <a:solidFill>
                <a:srgbClr val="FFFFFF"/>
              </a:solidFill>
            </a:endParaRPr>
          </a:p>
          <a:p>
            <a:pPr indent="0" lvl="0" marL="0" rtl="0" algn="l">
              <a:lnSpc>
                <a:spcPct val="100000"/>
              </a:lnSpc>
              <a:spcBef>
                <a:spcPts val="0"/>
              </a:spcBef>
              <a:spcAft>
                <a:spcPts val="0"/>
              </a:spcAft>
              <a:buNone/>
            </a:pPr>
            <a:r>
              <a:rPr lang="en">
                <a:solidFill>
                  <a:srgbClr val="FFFFFF"/>
                </a:solidFill>
              </a:rPr>
              <a:t>Separates the inside of a cell from its environment</a:t>
            </a:r>
            <a:endParaRPr>
              <a:solidFill>
                <a:srgbClr val="FFFFFF"/>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a:solidFill>
                  <a:schemeClr val="dk1"/>
                </a:solidFill>
              </a:rPr>
              <a:t>Controls movement of substances into/out of cell</a:t>
            </a:r>
            <a:endParaRPr>
              <a:solidFill>
                <a:schemeClr val="dk1"/>
              </a:solidFill>
            </a:endParaRPr>
          </a:p>
          <a:p>
            <a:pPr indent="0" lvl="0" marL="0" rtl="0" algn="l">
              <a:lnSpc>
                <a:spcPct val="100000"/>
              </a:lnSpc>
              <a:spcBef>
                <a:spcPts val="0"/>
              </a:spcBef>
              <a:spcAft>
                <a:spcPts val="0"/>
              </a:spcAft>
              <a:buNone/>
            </a:pPr>
            <a:r>
              <a:rPr lang="en">
                <a:solidFill>
                  <a:schemeClr val="dk1"/>
                </a:solidFill>
              </a:rPr>
              <a:t>It is made up of </a:t>
            </a:r>
            <a:r>
              <a:rPr b="1" lang="en">
                <a:solidFill>
                  <a:srgbClr val="FF0000"/>
                </a:solidFill>
              </a:rPr>
              <a:t>phospholipids</a:t>
            </a:r>
            <a:endParaRPr b="1">
              <a:solidFill>
                <a:srgbClr val="FF0000"/>
              </a:solidFill>
            </a:endParaRPr>
          </a:p>
          <a:p>
            <a:pPr indent="0" lvl="0" marL="0" rtl="0" algn="l">
              <a:lnSpc>
                <a:spcPct val="100000"/>
              </a:lnSpc>
              <a:spcBef>
                <a:spcPts val="0"/>
              </a:spcBef>
              <a:spcAft>
                <a:spcPts val="1600"/>
              </a:spcAft>
              <a:buNone/>
            </a:pPr>
            <a:r>
              <a:t/>
            </a:r>
            <a:endParaRPr/>
          </a:p>
        </p:txBody>
      </p:sp>
      <p:grpSp>
        <p:nvGrpSpPr>
          <p:cNvPr id="253" name="Google Shape;253;p54"/>
          <p:cNvGrpSpPr/>
          <p:nvPr/>
        </p:nvGrpSpPr>
        <p:grpSpPr>
          <a:xfrm>
            <a:off x="4010475" y="562575"/>
            <a:ext cx="5133524" cy="3627900"/>
            <a:chOff x="4064400" y="206650"/>
            <a:chExt cx="5133524" cy="3627900"/>
          </a:xfrm>
        </p:grpSpPr>
        <p:sp>
          <p:nvSpPr>
            <p:cNvPr id="254" name="Google Shape;254;p54"/>
            <p:cNvSpPr/>
            <p:nvPr/>
          </p:nvSpPr>
          <p:spPr>
            <a:xfrm>
              <a:off x="4316875" y="206650"/>
              <a:ext cx="4684200" cy="362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5" name="Google Shape;255;p54"/>
            <p:cNvPicPr preferRelativeResize="0"/>
            <p:nvPr/>
          </p:nvPicPr>
          <p:blipFill>
            <a:blip r:embed="rId3">
              <a:alphaModFix/>
            </a:blip>
            <a:stretch>
              <a:fillRect/>
            </a:stretch>
          </p:blipFill>
          <p:spPr>
            <a:xfrm>
              <a:off x="4064400" y="336121"/>
              <a:ext cx="5133524" cy="3234399"/>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Cytoplasm</a:t>
            </a:r>
            <a:endParaRPr/>
          </a:p>
        </p:txBody>
      </p:sp>
      <p:sp>
        <p:nvSpPr>
          <p:cNvPr id="261" name="Google Shape;261;p55"/>
          <p:cNvSpPr txBox="1"/>
          <p:nvPr>
            <p:ph idx="1" type="body"/>
          </p:nvPr>
        </p:nvSpPr>
        <p:spPr>
          <a:xfrm>
            <a:off x="372900" y="1017725"/>
            <a:ext cx="4521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Clear, thick, jelly-like fluid inside the cell membrane that contains the other organelles</a:t>
            </a:r>
            <a:endParaRPr>
              <a:solidFill>
                <a:srgbClr val="FFFFFF"/>
              </a:solidFill>
            </a:endParaRPr>
          </a:p>
        </p:txBody>
      </p:sp>
      <p:grpSp>
        <p:nvGrpSpPr>
          <p:cNvPr id="262" name="Google Shape;262;p55"/>
          <p:cNvGrpSpPr/>
          <p:nvPr/>
        </p:nvGrpSpPr>
        <p:grpSpPr>
          <a:xfrm>
            <a:off x="4730175" y="671625"/>
            <a:ext cx="3788749" cy="3966401"/>
            <a:chOff x="4730175" y="671625"/>
            <a:chExt cx="3788749" cy="3966401"/>
          </a:xfrm>
        </p:grpSpPr>
        <p:pic>
          <p:nvPicPr>
            <p:cNvPr id="263" name="Google Shape;263;p55"/>
            <p:cNvPicPr preferRelativeResize="0"/>
            <p:nvPr/>
          </p:nvPicPr>
          <p:blipFill rotWithShape="1">
            <a:blip r:embed="rId3">
              <a:alphaModFix/>
            </a:blip>
            <a:srcRect b="18683" l="62905" r="0" t="12276"/>
            <a:stretch/>
          </p:blipFill>
          <p:spPr>
            <a:xfrm>
              <a:off x="4730175" y="671625"/>
              <a:ext cx="3788749" cy="3966401"/>
            </a:xfrm>
            <a:prstGeom prst="rect">
              <a:avLst/>
            </a:prstGeom>
            <a:noFill/>
            <a:ln>
              <a:noFill/>
            </a:ln>
          </p:spPr>
        </p:pic>
        <p:sp>
          <p:nvSpPr>
            <p:cNvPr id="264" name="Google Shape;264;p55"/>
            <p:cNvSpPr txBox="1"/>
            <p:nvPr/>
          </p:nvSpPr>
          <p:spPr>
            <a:xfrm>
              <a:off x="4730175" y="4029825"/>
              <a:ext cx="1366200" cy="39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cytosol</a:t>
              </a:r>
              <a:endParaRPr/>
            </a:p>
          </p:txBody>
        </p:sp>
        <p:cxnSp>
          <p:nvCxnSpPr>
            <p:cNvPr id="265" name="Google Shape;265;p55"/>
            <p:cNvCxnSpPr/>
            <p:nvPr/>
          </p:nvCxnSpPr>
          <p:spPr>
            <a:xfrm flipH="1" rot="10800000">
              <a:off x="5473300" y="3915025"/>
              <a:ext cx="898800" cy="328800"/>
            </a:xfrm>
            <a:prstGeom prst="straightConnector1">
              <a:avLst/>
            </a:prstGeom>
            <a:noFill/>
            <a:ln cap="flat" cmpd="sng" w="38100">
              <a:solidFill>
                <a:schemeClr val="dk2"/>
              </a:solidFill>
              <a:prstDash val="solid"/>
              <a:round/>
              <a:headEnd len="med" w="med" type="none"/>
              <a:tailEnd len="med" w="med" type="triangl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Nucleus</a:t>
            </a:r>
            <a:endParaRPr/>
          </a:p>
        </p:txBody>
      </p:sp>
      <p:sp>
        <p:nvSpPr>
          <p:cNvPr id="271" name="Google Shape;271;p56"/>
          <p:cNvSpPr txBox="1"/>
          <p:nvPr>
            <p:ph idx="1" type="body"/>
          </p:nvPr>
        </p:nvSpPr>
        <p:spPr>
          <a:xfrm>
            <a:off x="311700" y="930900"/>
            <a:ext cx="3264300" cy="363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Control center of the cell that contains DNA</a:t>
            </a:r>
            <a:endParaRPr>
              <a:solidFill>
                <a:srgbClr val="FFFFFF"/>
              </a:solidFill>
            </a:endParaRPr>
          </a:p>
          <a:p>
            <a:pPr indent="0" lvl="0" marL="0" rtl="0" algn="l">
              <a:spcBef>
                <a:spcPts val="1600"/>
              </a:spcBef>
              <a:spcAft>
                <a:spcPts val="0"/>
              </a:spcAft>
              <a:buNone/>
            </a:pPr>
            <a:r>
              <a:rPr lang="en">
                <a:solidFill>
                  <a:srgbClr val="FFFFFF"/>
                </a:solidFill>
              </a:rPr>
              <a:t>Contains a double layered nuclear membrane with tiny openings.</a:t>
            </a:r>
            <a:endParaRPr>
              <a:solidFill>
                <a:srgbClr val="FFFFFF"/>
              </a:solidFill>
            </a:endParaRPr>
          </a:p>
          <a:p>
            <a:pPr indent="0" lvl="0" marL="0" rtl="0" algn="l">
              <a:spcBef>
                <a:spcPts val="1600"/>
              </a:spcBef>
              <a:spcAft>
                <a:spcPts val="0"/>
              </a:spcAft>
              <a:buNone/>
            </a:pPr>
            <a:r>
              <a:rPr lang="en">
                <a:solidFill>
                  <a:srgbClr val="FFFFFF"/>
                </a:solidFill>
              </a:rPr>
              <a:t>It has nucleolus which makes ribosomes.</a:t>
            </a:r>
            <a:endParaRPr>
              <a:solidFill>
                <a:srgbClr val="FFFFFF"/>
              </a:solidFill>
            </a:endParaRPr>
          </a:p>
          <a:p>
            <a:pPr indent="0" lvl="0" marL="0" rtl="0" algn="l">
              <a:spcBef>
                <a:spcPts val="1600"/>
              </a:spcBef>
              <a:spcAft>
                <a:spcPts val="1600"/>
              </a:spcAft>
              <a:buNone/>
            </a:pPr>
            <a:r>
              <a:rPr lang="en">
                <a:solidFill>
                  <a:srgbClr val="FFFFFF"/>
                </a:solidFill>
              </a:rPr>
              <a:t>It has chromatin that has DNA as the genetic material.</a:t>
            </a:r>
            <a:endParaRPr>
              <a:solidFill>
                <a:srgbClr val="FFFFFF"/>
              </a:solidFill>
            </a:endParaRPr>
          </a:p>
        </p:txBody>
      </p:sp>
      <p:pic>
        <p:nvPicPr>
          <p:cNvPr id="272" name="Google Shape;272;p56"/>
          <p:cNvPicPr preferRelativeResize="0"/>
          <p:nvPr/>
        </p:nvPicPr>
        <p:blipFill>
          <a:blip r:embed="rId3">
            <a:alphaModFix/>
          </a:blip>
          <a:stretch>
            <a:fillRect/>
          </a:stretch>
        </p:blipFill>
        <p:spPr>
          <a:xfrm>
            <a:off x="4186525" y="792175"/>
            <a:ext cx="4084925" cy="32407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DNA / Genetic Material</a:t>
            </a:r>
            <a:endParaRPr/>
          </a:p>
        </p:txBody>
      </p:sp>
      <p:sp>
        <p:nvSpPr>
          <p:cNvPr id="278" name="Google Shape;278;p57"/>
          <p:cNvSpPr txBox="1"/>
          <p:nvPr>
            <p:ph idx="1" type="body"/>
          </p:nvPr>
        </p:nvSpPr>
        <p:spPr>
          <a:xfrm>
            <a:off x="311700" y="1152475"/>
            <a:ext cx="3144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A long molecule in the nucleus that contains the instructions an organism needs to develop, live and reproduce</a:t>
            </a:r>
            <a:endParaRPr>
              <a:solidFill>
                <a:srgbClr val="FFFFFF"/>
              </a:solidFill>
            </a:endParaRPr>
          </a:p>
        </p:txBody>
      </p:sp>
      <p:pic>
        <p:nvPicPr>
          <p:cNvPr id="279" name="Google Shape;279;p57"/>
          <p:cNvPicPr preferRelativeResize="0"/>
          <p:nvPr/>
        </p:nvPicPr>
        <p:blipFill>
          <a:blip r:embed="rId3">
            <a:alphaModFix/>
          </a:blip>
          <a:stretch>
            <a:fillRect/>
          </a:stretch>
        </p:blipFill>
        <p:spPr>
          <a:xfrm>
            <a:off x="4294964" y="0"/>
            <a:ext cx="4415528" cy="3616528"/>
          </a:xfrm>
          <a:prstGeom prst="rect">
            <a:avLst/>
          </a:prstGeom>
          <a:noFill/>
          <a:ln>
            <a:noFill/>
          </a:ln>
        </p:spPr>
      </p:pic>
      <p:pic>
        <p:nvPicPr>
          <p:cNvPr id="280" name="Google Shape;280;p57"/>
          <p:cNvPicPr preferRelativeResize="0"/>
          <p:nvPr/>
        </p:nvPicPr>
        <p:blipFill>
          <a:blip r:embed="rId4">
            <a:alphaModFix/>
          </a:blip>
          <a:stretch>
            <a:fillRect/>
          </a:stretch>
        </p:blipFill>
        <p:spPr>
          <a:xfrm>
            <a:off x="2017425" y="2487125"/>
            <a:ext cx="4093459" cy="2571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Nucleolus</a:t>
            </a:r>
            <a:endParaRPr/>
          </a:p>
        </p:txBody>
      </p:sp>
      <p:sp>
        <p:nvSpPr>
          <p:cNvPr id="286" name="Google Shape;286;p58"/>
          <p:cNvSpPr txBox="1"/>
          <p:nvPr>
            <p:ph idx="1" type="body"/>
          </p:nvPr>
        </p:nvSpPr>
        <p:spPr>
          <a:xfrm>
            <a:off x="311700" y="1017725"/>
            <a:ext cx="3681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A structure in the nucleus where ribosomes are made</a:t>
            </a:r>
            <a:endParaRPr>
              <a:solidFill>
                <a:srgbClr val="FFFFFF"/>
              </a:solidFill>
            </a:endParaRPr>
          </a:p>
        </p:txBody>
      </p:sp>
      <p:pic>
        <p:nvPicPr>
          <p:cNvPr id="287" name="Google Shape;287;p58"/>
          <p:cNvPicPr preferRelativeResize="0"/>
          <p:nvPr/>
        </p:nvPicPr>
        <p:blipFill>
          <a:blip r:embed="rId3">
            <a:alphaModFix/>
          </a:blip>
          <a:stretch>
            <a:fillRect/>
          </a:stretch>
        </p:blipFill>
        <p:spPr>
          <a:xfrm>
            <a:off x="4470225" y="959971"/>
            <a:ext cx="3325450" cy="2243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Ribosome</a:t>
            </a:r>
            <a:endParaRPr/>
          </a:p>
        </p:txBody>
      </p:sp>
      <p:sp>
        <p:nvSpPr>
          <p:cNvPr id="293" name="Google Shape;293;p59"/>
          <p:cNvSpPr txBox="1"/>
          <p:nvPr>
            <p:ph idx="1" type="body"/>
          </p:nvPr>
        </p:nvSpPr>
        <p:spPr>
          <a:xfrm>
            <a:off x="311700" y="1152475"/>
            <a:ext cx="4108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Small bodies floating in cytoplasm (or attached to the endoplasmic reticulum) that make proteins</a:t>
            </a:r>
            <a:endParaRPr>
              <a:solidFill>
                <a:srgbClr val="FFFFFF"/>
              </a:solidFill>
            </a:endParaRPr>
          </a:p>
        </p:txBody>
      </p:sp>
      <p:pic>
        <p:nvPicPr>
          <p:cNvPr id="294" name="Google Shape;294;p59"/>
          <p:cNvPicPr preferRelativeResize="0"/>
          <p:nvPr/>
        </p:nvPicPr>
        <p:blipFill>
          <a:blip r:embed="rId3">
            <a:alphaModFix/>
          </a:blip>
          <a:stretch>
            <a:fillRect/>
          </a:stretch>
        </p:blipFill>
        <p:spPr>
          <a:xfrm>
            <a:off x="4339825" y="1017725"/>
            <a:ext cx="4673224" cy="3157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Endoplasmic Reticulum (ER)</a:t>
            </a:r>
            <a:endParaRPr/>
          </a:p>
        </p:txBody>
      </p:sp>
      <p:sp>
        <p:nvSpPr>
          <p:cNvPr id="300" name="Google Shape;300;p60"/>
          <p:cNvSpPr txBox="1"/>
          <p:nvPr>
            <p:ph idx="1" type="body"/>
          </p:nvPr>
        </p:nvSpPr>
        <p:spPr>
          <a:xfrm>
            <a:off x="311700" y="1152475"/>
            <a:ext cx="4685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A membrane enclosed passageway (network of tubes) for</a:t>
            </a:r>
            <a:r>
              <a:rPr b="1" lang="en">
                <a:solidFill>
                  <a:srgbClr val="FFFF00"/>
                </a:solidFill>
              </a:rPr>
              <a:t> transporting material such as proteins/lipids made by ribosomes</a:t>
            </a:r>
            <a:endParaRPr b="1">
              <a:solidFill>
                <a:srgbClr val="FFFF00"/>
              </a:solidFill>
            </a:endParaRPr>
          </a:p>
          <a:p>
            <a:pPr indent="0" lvl="0" marL="0" rtl="0" algn="l">
              <a:spcBef>
                <a:spcPts val="1600"/>
              </a:spcBef>
              <a:spcAft>
                <a:spcPts val="0"/>
              </a:spcAft>
              <a:buNone/>
            </a:pPr>
            <a:r>
              <a:t/>
            </a:r>
            <a:endParaRPr>
              <a:solidFill>
                <a:srgbClr val="FFFFFF"/>
              </a:solidFill>
            </a:endParaRPr>
          </a:p>
          <a:p>
            <a:pPr indent="0" lvl="0" marL="0" rtl="0" algn="l">
              <a:spcBef>
                <a:spcPts val="1600"/>
              </a:spcBef>
              <a:spcAft>
                <a:spcPts val="0"/>
              </a:spcAft>
              <a:buNone/>
            </a:pPr>
            <a:r>
              <a:rPr lang="en">
                <a:solidFill>
                  <a:srgbClr val="FFFFFF"/>
                </a:solidFill>
              </a:rPr>
              <a:t>Rough ER has ribosomes and makes/Synthesise proteins</a:t>
            </a:r>
            <a:endParaRPr>
              <a:solidFill>
                <a:srgbClr val="FFFFFF"/>
              </a:solidFill>
            </a:endParaRPr>
          </a:p>
          <a:p>
            <a:pPr indent="0" lvl="0" marL="0" rtl="0" algn="l">
              <a:spcBef>
                <a:spcPts val="1600"/>
              </a:spcBef>
              <a:spcAft>
                <a:spcPts val="0"/>
              </a:spcAft>
              <a:buNone/>
            </a:pPr>
            <a:r>
              <a:t/>
            </a:r>
            <a:endParaRPr>
              <a:solidFill>
                <a:srgbClr val="FFFFFF"/>
              </a:solidFill>
            </a:endParaRPr>
          </a:p>
          <a:p>
            <a:pPr indent="0" lvl="0" marL="0" rtl="0" algn="l">
              <a:spcBef>
                <a:spcPts val="1600"/>
              </a:spcBef>
              <a:spcAft>
                <a:spcPts val="1600"/>
              </a:spcAft>
              <a:buNone/>
            </a:pPr>
            <a:r>
              <a:t/>
            </a:r>
            <a:endParaRPr/>
          </a:p>
        </p:txBody>
      </p:sp>
      <p:pic>
        <p:nvPicPr>
          <p:cNvPr id="301" name="Google Shape;301;p60"/>
          <p:cNvPicPr preferRelativeResize="0"/>
          <p:nvPr/>
        </p:nvPicPr>
        <p:blipFill>
          <a:blip r:embed="rId3">
            <a:alphaModFix/>
          </a:blip>
          <a:stretch>
            <a:fillRect/>
          </a:stretch>
        </p:blipFill>
        <p:spPr>
          <a:xfrm>
            <a:off x="5305225" y="113675"/>
            <a:ext cx="3527073" cy="49161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61"/>
          <p:cNvPicPr preferRelativeResize="0"/>
          <p:nvPr/>
        </p:nvPicPr>
        <p:blipFill>
          <a:blip r:embed="rId3">
            <a:alphaModFix/>
          </a:blip>
          <a:stretch>
            <a:fillRect/>
          </a:stretch>
        </p:blipFill>
        <p:spPr>
          <a:xfrm>
            <a:off x="152400" y="152400"/>
            <a:ext cx="7620000" cy="4562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Functions of Smooth Endoplasmic Reticulum</a:t>
            </a:r>
            <a:endParaRPr/>
          </a:p>
        </p:txBody>
      </p:sp>
      <p:sp>
        <p:nvSpPr>
          <p:cNvPr id="312" name="Google Shape;312;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00050" lvl="0" marL="457200" rtl="0" algn="l">
              <a:spcBef>
                <a:spcPts val="0"/>
              </a:spcBef>
              <a:spcAft>
                <a:spcPts val="0"/>
              </a:spcAft>
              <a:buClr>
                <a:srgbClr val="FFFF00"/>
              </a:buClr>
              <a:buSzPts val="2700"/>
              <a:buChar char="●"/>
            </a:pPr>
            <a:r>
              <a:rPr b="1" lang="en" sz="2700">
                <a:solidFill>
                  <a:srgbClr val="FFFF00"/>
                </a:solidFill>
              </a:rPr>
              <a:t>SER helps in the synthesis of lipids and steroid hormones</a:t>
            </a:r>
            <a:endParaRPr b="1" sz="2700">
              <a:solidFill>
                <a:srgbClr val="FFFF00"/>
              </a:solidFill>
            </a:endParaRPr>
          </a:p>
          <a:p>
            <a:pPr indent="-400050" lvl="0" marL="457200" rtl="0" algn="l">
              <a:spcBef>
                <a:spcPts val="0"/>
              </a:spcBef>
              <a:spcAft>
                <a:spcPts val="0"/>
              </a:spcAft>
              <a:buClr>
                <a:srgbClr val="FFFF00"/>
              </a:buClr>
              <a:buSzPts val="2700"/>
              <a:buChar char="●"/>
            </a:pPr>
            <a:r>
              <a:rPr b="1" lang="en" sz="2700">
                <a:solidFill>
                  <a:srgbClr val="FFFF00"/>
                </a:solidFill>
              </a:rPr>
              <a:t>Detoxification of harmful substances</a:t>
            </a:r>
            <a:endParaRPr b="1" sz="2700">
              <a:solidFill>
                <a:srgbClr val="FFFF00"/>
              </a:solidFill>
            </a:endParaRPr>
          </a:p>
          <a:p>
            <a:pPr indent="-400050" lvl="0" marL="457200" rtl="0" algn="l">
              <a:spcBef>
                <a:spcPts val="0"/>
              </a:spcBef>
              <a:spcAft>
                <a:spcPts val="0"/>
              </a:spcAft>
              <a:buClr>
                <a:srgbClr val="FFFF00"/>
              </a:buClr>
              <a:buSzPts val="2700"/>
              <a:buChar char="●"/>
            </a:pPr>
            <a:r>
              <a:rPr b="1" lang="en" sz="2700">
                <a:solidFill>
                  <a:srgbClr val="FFFF00"/>
                </a:solidFill>
              </a:rPr>
              <a:t>Storage of calcium ions</a:t>
            </a:r>
            <a:endParaRPr b="1" sz="2700">
              <a:solidFill>
                <a:srgbClr val="FFFF00"/>
              </a:solidFill>
            </a:endParaRPr>
          </a:p>
          <a:p>
            <a:pPr indent="0" lvl="0" marL="0" rtl="0" algn="l">
              <a:spcBef>
                <a:spcPts val="1600"/>
              </a:spcBef>
              <a:spcAft>
                <a:spcPts val="0"/>
              </a:spcAft>
              <a:buNone/>
            </a:pPr>
            <a:r>
              <a:rPr b="1" lang="en" sz="2700">
                <a:solidFill>
                  <a:srgbClr val="FFFF00"/>
                </a:solidFill>
              </a:rPr>
              <a:t>Liver cells have more smooth endoplasmic reticulum</a:t>
            </a:r>
            <a:endParaRPr b="1" sz="2700">
              <a:solidFill>
                <a:srgbClr val="FFFF00"/>
              </a:solidFill>
            </a:endParaRPr>
          </a:p>
          <a:p>
            <a:pPr indent="0" lvl="0" marL="45720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Golgi Apparatus</a:t>
            </a:r>
            <a:endParaRPr/>
          </a:p>
        </p:txBody>
      </p:sp>
      <p:sp>
        <p:nvSpPr>
          <p:cNvPr id="318" name="Google Shape;318;p63"/>
          <p:cNvSpPr txBox="1"/>
          <p:nvPr>
            <p:ph idx="1" type="body"/>
          </p:nvPr>
        </p:nvSpPr>
        <p:spPr>
          <a:xfrm>
            <a:off x="377525" y="1152475"/>
            <a:ext cx="4016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Functions</a:t>
            </a:r>
            <a:endParaRPr>
              <a:solidFill>
                <a:srgbClr val="FFFFFF"/>
              </a:solidFill>
            </a:endParaRPr>
          </a:p>
          <a:p>
            <a:pPr indent="-342900" lvl="0" marL="457200" rtl="0" algn="l">
              <a:spcBef>
                <a:spcPts val="1600"/>
              </a:spcBef>
              <a:spcAft>
                <a:spcPts val="0"/>
              </a:spcAft>
              <a:buClr>
                <a:srgbClr val="FFFFFF"/>
              </a:buClr>
              <a:buSzPts val="1800"/>
              <a:buChar char="●"/>
            </a:pPr>
            <a:r>
              <a:rPr lang="en">
                <a:solidFill>
                  <a:schemeClr val="dk1"/>
                </a:solidFill>
              </a:rPr>
              <a:t>Flattened discs that modify proteins from the Endoplasmic Reticulum (ER)</a:t>
            </a:r>
            <a:endParaRPr>
              <a:solidFill>
                <a:srgbClr val="FFFFFF"/>
              </a:solidFill>
            </a:endParaRPr>
          </a:p>
          <a:p>
            <a:pPr indent="-342900" lvl="0" marL="457200" rtl="0" algn="l">
              <a:spcBef>
                <a:spcPts val="1600"/>
              </a:spcBef>
              <a:spcAft>
                <a:spcPts val="0"/>
              </a:spcAft>
              <a:buClr>
                <a:srgbClr val="FFFFFF"/>
              </a:buClr>
              <a:buSzPts val="1800"/>
              <a:buChar char="●"/>
            </a:pPr>
            <a:r>
              <a:rPr lang="en">
                <a:solidFill>
                  <a:srgbClr val="FFFFFF"/>
                </a:solidFill>
              </a:rPr>
              <a:t>Packaging and secretion of proteins.</a:t>
            </a:r>
            <a:endParaRPr>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Transport of lipids and </a:t>
            </a:r>
            <a:r>
              <a:rPr b="1" lang="en">
                <a:solidFill>
                  <a:srgbClr val="FFFF00"/>
                </a:solidFill>
              </a:rPr>
              <a:t>formation of lysosomes</a:t>
            </a:r>
            <a:endParaRPr b="1">
              <a:solidFill>
                <a:srgbClr val="FFFF00"/>
              </a:solidFill>
            </a:endParaRPr>
          </a:p>
          <a:p>
            <a:pPr indent="0" lvl="0" marL="0" rtl="0" algn="l">
              <a:spcBef>
                <a:spcPts val="1600"/>
              </a:spcBef>
              <a:spcAft>
                <a:spcPts val="1600"/>
              </a:spcAft>
              <a:buNone/>
            </a:pPr>
            <a:r>
              <a:t/>
            </a:r>
            <a:endParaRPr/>
          </a:p>
        </p:txBody>
      </p:sp>
      <p:pic>
        <p:nvPicPr>
          <p:cNvPr id="319" name="Google Shape;319;p63"/>
          <p:cNvPicPr preferRelativeResize="0"/>
          <p:nvPr/>
        </p:nvPicPr>
        <p:blipFill>
          <a:blip r:embed="rId3">
            <a:alphaModFix/>
          </a:blip>
          <a:stretch>
            <a:fillRect/>
          </a:stretch>
        </p:blipFill>
        <p:spPr>
          <a:xfrm>
            <a:off x="5305225" y="113675"/>
            <a:ext cx="3527073" cy="49161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64"/>
          <p:cNvPicPr preferRelativeResize="0"/>
          <p:nvPr/>
        </p:nvPicPr>
        <p:blipFill>
          <a:blip r:embed="rId3">
            <a:alphaModFix/>
          </a:blip>
          <a:stretch>
            <a:fillRect/>
          </a:stretch>
        </p:blipFill>
        <p:spPr>
          <a:xfrm>
            <a:off x="152400" y="152400"/>
            <a:ext cx="3214625" cy="4838700"/>
          </a:xfrm>
          <a:prstGeom prst="rect">
            <a:avLst/>
          </a:prstGeom>
          <a:noFill/>
          <a:ln>
            <a:noFill/>
          </a:ln>
        </p:spPr>
      </p:pic>
      <p:sp>
        <p:nvSpPr>
          <p:cNvPr id="325" name="Google Shape;325;p64"/>
          <p:cNvSpPr txBox="1"/>
          <p:nvPr/>
        </p:nvSpPr>
        <p:spPr>
          <a:xfrm>
            <a:off x="4162300" y="568050"/>
            <a:ext cx="4389600" cy="8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rPr>
              <a:t>Nucleus -&gt; ER -&gt; Ribosomes -&gt; vesicles -&gt; Golgi complex -&gt; vesicles -&gt; Plasma membrane -&gt; Secretion</a:t>
            </a:r>
            <a:endParaRPr b="1">
              <a:solidFill>
                <a:srgbClr val="FFFFFF"/>
              </a:solidFill>
            </a:endParaRPr>
          </a:p>
        </p:txBody>
      </p:sp>
      <p:sp>
        <p:nvSpPr>
          <p:cNvPr id="326" name="Google Shape;326;p64"/>
          <p:cNvSpPr txBox="1"/>
          <p:nvPr/>
        </p:nvSpPr>
        <p:spPr>
          <a:xfrm>
            <a:off x="3583925" y="1528600"/>
            <a:ext cx="5505000" cy="263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rgbClr val="FFFFFF"/>
                </a:solidFill>
              </a:rPr>
              <a:t>The information to make a specific protein comes from the DNA in the </a:t>
            </a:r>
            <a:r>
              <a:rPr b="1" lang="en" sz="1700">
                <a:solidFill>
                  <a:srgbClr val="FF0000"/>
                </a:solidFill>
              </a:rPr>
              <a:t>nucleus.</a:t>
            </a:r>
            <a:r>
              <a:rPr lang="en" sz="1700">
                <a:solidFill>
                  <a:srgbClr val="FFFFFF"/>
                </a:solidFill>
              </a:rPr>
              <a:t> Then the </a:t>
            </a:r>
            <a:r>
              <a:rPr b="1" lang="en" sz="1700">
                <a:solidFill>
                  <a:srgbClr val="FF0000"/>
                </a:solidFill>
              </a:rPr>
              <a:t>ribosome in the endoplasmic reticulum </a:t>
            </a:r>
            <a:r>
              <a:rPr lang="en" sz="1700">
                <a:solidFill>
                  <a:srgbClr val="FFFFFF"/>
                </a:solidFill>
              </a:rPr>
              <a:t>makes the protein. The protein travel through the channels of ER. Part of the endoplasmic reticulum pinches off to form a </a:t>
            </a:r>
            <a:r>
              <a:rPr lang="en" sz="1700">
                <a:solidFill>
                  <a:srgbClr val="FF0000"/>
                </a:solidFill>
              </a:rPr>
              <a:t>vesicle with a protein inside,</a:t>
            </a:r>
            <a:r>
              <a:rPr b="1" lang="en" sz="1700">
                <a:solidFill>
                  <a:srgbClr val="FFFFFF"/>
                </a:solidFill>
              </a:rPr>
              <a:t> </a:t>
            </a:r>
            <a:r>
              <a:rPr lang="en" sz="1700">
                <a:solidFill>
                  <a:srgbClr val="FFFFFF"/>
                </a:solidFill>
              </a:rPr>
              <a:t>which fuses with the cis face of Golgi apparatus. The </a:t>
            </a:r>
            <a:r>
              <a:rPr b="1" lang="en" sz="1700">
                <a:solidFill>
                  <a:srgbClr val="FF0000"/>
                </a:solidFill>
              </a:rPr>
              <a:t>Golgi apparatus </a:t>
            </a:r>
            <a:r>
              <a:rPr lang="en" sz="1700">
                <a:solidFill>
                  <a:srgbClr val="FFFFFF"/>
                </a:solidFill>
              </a:rPr>
              <a:t>modifies the protein then pinches off </a:t>
            </a:r>
            <a:r>
              <a:rPr lang="en" sz="1700">
                <a:solidFill>
                  <a:srgbClr val="FFFFFF"/>
                </a:solidFill>
              </a:rPr>
              <a:t>from</a:t>
            </a:r>
            <a:r>
              <a:rPr lang="en" sz="1700">
                <a:solidFill>
                  <a:srgbClr val="FFFFFF"/>
                </a:solidFill>
              </a:rPr>
              <a:t> the trans face to form another vesicle (again, with the modified protein inside). Finally that vesicle fuses with the </a:t>
            </a:r>
            <a:r>
              <a:rPr b="1" lang="en" sz="1700">
                <a:solidFill>
                  <a:srgbClr val="FF0000"/>
                </a:solidFill>
              </a:rPr>
              <a:t>cell membrane </a:t>
            </a:r>
            <a:r>
              <a:rPr lang="en" sz="1700">
                <a:solidFill>
                  <a:srgbClr val="FFFFFF"/>
                </a:solidFill>
              </a:rPr>
              <a:t>and the protein leaves the cell by exocytosis using ATP </a:t>
            </a:r>
            <a:endParaRPr sz="1700">
              <a:solidFill>
                <a:srgbClr val="FFFF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65"/>
          <p:cNvPicPr preferRelativeResize="0"/>
          <p:nvPr/>
        </p:nvPicPr>
        <p:blipFill>
          <a:blip r:embed="rId3">
            <a:alphaModFix/>
          </a:blip>
          <a:stretch>
            <a:fillRect/>
          </a:stretch>
        </p:blipFill>
        <p:spPr>
          <a:xfrm>
            <a:off x="152400" y="152400"/>
            <a:ext cx="6436050" cy="4838700"/>
          </a:xfrm>
          <a:prstGeom prst="rect">
            <a:avLst/>
          </a:prstGeom>
          <a:noFill/>
          <a:ln>
            <a:noFill/>
          </a:ln>
        </p:spPr>
      </p:pic>
      <p:sp>
        <p:nvSpPr>
          <p:cNvPr id="332" name="Google Shape;332;p65"/>
          <p:cNvSpPr txBox="1"/>
          <p:nvPr/>
        </p:nvSpPr>
        <p:spPr>
          <a:xfrm>
            <a:off x="6018425" y="3672025"/>
            <a:ext cx="3155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u="sng">
                <a:solidFill>
                  <a:schemeClr val="hlink"/>
                </a:solidFill>
                <a:hlinkClick r:id="rId4"/>
              </a:rPr>
              <a:t>Link to the Video</a:t>
            </a:r>
            <a:endParaRPr b="1"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Chloroplast</a:t>
            </a:r>
            <a:endParaRPr/>
          </a:p>
        </p:txBody>
      </p:sp>
      <p:sp>
        <p:nvSpPr>
          <p:cNvPr id="338" name="Google Shape;338;p66"/>
          <p:cNvSpPr txBox="1"/>
          <p:nvPr>
            <p:ph idx="1" type="body"/>
          </p:nvPr>
        </p:nvSpPr>
        <p:spPr>
          <a:xfrm>
            <a:off x="311700" y="1152475"/>
            <a:ext cx="3855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The “food” producers of the cell. Chloroplasts convert light energy into sugars  (chemical energy ) during the process of photosynthesis, that can be used by cells. </a:t>
            </a:r>
            <a:endParaRPr>
              <a:solidFill>
                <a:srgbClr val="FFFFFF"/>
              </a:solidFill>
            </a:endParaRPr>
          </a:p>
        </p:txBody>
      </p:sp>
      <p:pic>
        <p:nvPicPr>
          <p:cNvPr id="339" name="Google Shape;339;p66"/>
          <p:cNvPicPr preferRelativeResize="0"/>
          <p:nvPr/>
        </p:nvPicPr>
        <p:blipFill>
          <a:blip r:embed="rId3">
            <a:alphaModFix/>
          </a:blip>
          <a:stretch>
            <a:fillRect/>
          </a:stretch>
        </p:blipFill>
        <p:spPr>
          <a:xfrm>
            <a:off x="4351325" y="1152475"/>
            <a:ext cx="4563826" cy="2686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Mitochondria</a:t>
            </a:r>
            <a:endParaRPr/>
          </a:p>
        </p:txBody>
      </p:sp>
      <p:sp>
        <p:nvSpPr>
          <p:cNvPr id="345" name="Google Shape;345;p67"/>
          <p:cNvSpPr txBox="1"/>
          <p:nvPr>
            <p:ph idx="1" type="body"/>
          </p:nvPr>
        </p:nvSpPr>
        <p:spPr>
          <a:xfrm>
            <a:off x="311700" y="1152475"/>
            <a:ext cx="4062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FF"/>
                </a:solidFill>
              </a:rPr>
              <a:t>The powerhouse for both plant and animal cells. Makes ATP molecules that provide the energy for all of the cells activities.</a:t>
            </a:r>
            <a:endParaRPr>
              <a:solidFill>
                <a:srgbClr val="FFFFFF"/>
              </a:solidFill>
            </a:endParaRPr>
          </a:p>
          <a:p>
            <a:pPr indent="0" lvl="0" marL="0" rtl="0" algn="l">
              <a:spcBef>
                <a:spcPts val="1600"/>
              </a:spcBef>
              <a:spcAft>
                <a:spcPts val="1600"/>
              </a:spcAft>
              <a:buNone/>
            </a:pPr>
            <a:r>
              <a:t/>
            </a:r>
            <a:endParaRPr/>
          </a:p>
        </p:txBody>
      </p:sp>
      <p:grpSp>
        <p:nvGrpSpPr>
          <p:cNvPr id="346" name="Google Shape;346;p67"/>
          <p:cNvGrpSpPr/>
          <p:nvPr/>
        </p:nvGrpSpPr>
        <p:grpSpPr>
          <a:xfrm>
            <a:off x="4457225" y="1584375"/>
            <a:ext cx="4595402" cy="3234926"/>
            <a:chOff x="4457225" y="1584375"/>
            <a:chExt cx="4595402" cy="3234926"/>
          </a:xfrm>
        </p:grpSpPr>
        <p:sp>
          <p:nvSpPr>
            <p:cNvPr id="347" name="Google Shape;347;p67"/>
            <p:cNvSpPr/>
            <p:nvPr/>
          </p:nvSpPr>
          <p:spPr>
            <a:xfrm>
              <a:off x="4489075" y="1584375"/>
              <a:ext cx="4343100" cy="323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8" name="Google Shape;348;p67"/>
            <p:cNvPicPr preferRelativeResize="0"/>
            <p:nvPr/>
          </p:nvPicPr>
          <p:blipFill rotWithShape="1">
            <a:blip r:embed="rId3">
              <a:alphaModFix/>
            </a:blip>
            <a:srcRect b="0" l="0" r="0" t="38669"/>
            <a:stretch/>
          </p:blipFill>
          <p:spPr>
            <a:xfrm>
              <a:off x="4457225" y="1664751"/>
              <a:ext cx="4595402" cy="3154551"/>
            </a:xfrm>
            <a:prstGeom prst="rect">
              <a:avLst/>
            </a:prstGeom>
            <a:noFill/>
            <a:ln>
              <a:noFill/>
            </a:ln>
          </p:spPr>
        </p:pic>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Vacuole</a:t>
            </a:r>
            <a:endParaRPr/>
          </a:p>
        </p:txBody>
      </p:sp>
      <p:sp>
        <p:nvSpPr>
          <p:cNvPr id="354" name="Google Shape;354;p68"/>
          <p:cNvSpPr txBox="1"/>
          <p:nvPr>
            <p:ph idx="1" type="body"/>
          </p:nvPr>
        </p:nvSpPr>
        <p:spPr>
          <a:xfrm>
            <a:off x="311700" y="1152475"/>
            <a:ext cx="3387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FFFFFF"/>
                </a:solidFill>
              </a:rPr>
              <a:t>Sack like structures that store different materials. In plant cells the central vacuole stores water and waste. Vacuoles contribute to the rigidity of the plant using water to develop hydrostatic pressure. </a:t>
            </a:r>
            <a:endParaRPr>
              <a:solidFill>
                <a:srgbClr val="FFFFFF"/>
              </a:solidFill>
            </a:endParaRPr>
          </a:p>
        </p:txBody>
      </p:sp>
      <p:pic>
        <p:nvPicPr>
          <p:cNvPr id="355" name="Google Shape;355;p68"/>
          <p:cNvPicPr preferRelativeResize="0"/>
          <p:nvPr/>
        </p:nvPicPr>
        <p:blipFill>
          <a:blip r:embed="rId3">
            <a:alphaModFix/>
          </a:blip>
          <a:stretch>
            <a:fillRect/>
          </a:stretch>
        </p:blipFill>
        <p:spPr>
          <a:xfrm>
            <a:off x="3698975" y="739412"/>
            <a:ext cx="5353849" cy="3664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Lysosome</a:t>
            </a:r>
            <a:endParaRPr/>
          </a:p>
        </p:txBody>
      </p:sp>
      <p:sp>
        <p:nvSpPr>
          <p:cNvPr id="361" name="Google Shape;361;p69"/>
          <p:cNvSpPr txBox="1"/>
          <p:nvPr>
            <p:ph idx="1" type="body"/>
          </p:nvPr>
        </p:nvSpPr>
        <p:spPr>
          <a:xfrm>
            <a:off x="311700" y="1152475"/>
            <a:ext cx="4041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FFFFFF"/>
                </a:solidFill>
              </a:rPr>
              <a:t>The cells “garbage collectors”. </a:t>
            </a:r>
            <a:endParaRPr sz="2400">
              <a:solidFill>
                <a:srgbClr val="FFFFFF"/>
              </a:solidFill>
            </a:endParaRPr>
          </a:p>
          <a:p>
            <a:pPr indent="-342900" lvl="0" marL="457200" rtl="0" algn="l">
              <a:spcBef>
                <a:spcPts val="1600"/>
              </a:spcBef>
              <a:spcAft>
                <a:spcPts val="0"/>
              </a:spcAft>
              <a:buClr>
                <a:srgbClr val="FFFFFF"/>
              </a:buClr>
              <a:buSzPts val="1800"/>
              <a:buChar char="●"/>
            </a:pPr>
            <a:r>
              <a:rPr lang="en" sz="1900">
                <a:solidFill>
                  <a:srgbClr val="FFFFFF"/>
                </a:solidFill>
              </a:rPr>
              <a:t>Enzymes inside lysosomes break down proteins, complex carbohydrates, lipids, nucleic acids, and worn out organelles.</a:t>
            </a:r>
            <a:endParaRPr sz="1900">
              <a:solidFill>
                <a:srgbClr val="FFFFFF"/>
              </a:solidFill>
            </a:endParaRPr>
          </a:p>
          <a:p>
            <a:pPr indent="-342900" lvl="0" marL="457200" rtl="0" algn="l">
              <a:spcBef>
                <a:spcPts val="0"/>
              </a:spcBef>
              <a:spcAft>
                <a:spcPts val="0"/>
              </a:spcAft>
              <a:buClr>
                <a:srgbClr val="FFFFFF"/>
              </a:buClr>
              <a:buSzPts val="1800"/>
              <a:buChar char="●"/>
            </a:pPr>
            <a:r>
              <a:rPr lang="en">
                <a:solidFill>
                  <a:srgbClr val="FFFFFF"/>
                </a:solidFill>
              </a:rPr>
              <a:t>Helps in the removal of dead cells </a:t>
            </a:r>
            <a:endParaRPr>
              <a:solidFill>
                <a:srgbClr val="FFFFFF"/>
              </a:solidFill>
            </a:endParaRPr>
          </a:p>
        </p:txBody>
      </p:sp>
      <p:pic>
        <p:nvPicPr>
          <p:cNvPr id="362" name="Google Shape;362;p69"/>
          <p:cNvPicPr preferRelativeResize="0"/>
          <p:nvPr/>
        </p:nvPicPr>
        <p:blipFill>
          <a:blip r:embed="rId3">
            <a:alphaModFix/>
          </a:blip>
          <a:stretch>
            <a:fillRect/>
          </a:stretch>
        </p:blipFill>
        <p:spPr>
          <a:xfrm>
            <a:off x="4352925" y="965225"/>
            <a:ext cx="4791075" cy="21240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70"/>
          <p:cNvPicPr preferRelativeResize="0"/>
          <p:nvPr/>
        </p:nvPicPr>
        <p:blipFill>
          <a:blip r:embed="rId3">
            <a:alphaModFix/>
          </a:blip>
          <a:stretch>
            <a:fillRect/>
          </a:stretch>
        </p:blipFill>
        <p:spPr>
          <a:xfrm>
            <a:off x="1058463" y="137613"/>
            <a:ext cx="7027076" cy="4868275"/>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373" name="Google Shape;373;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00"/>
              </a:buClr>
              <a:buSzPts val="1800"/>
              <a:buAutoNum type="arabicPeriod"/>
            </a:pPr>
            <a:r>
              <a:rPr b="1" lang="en">
                <a:solidFill>
                  <a:srgbClr val="FFFF00"/>
                </a:solidFill>
              </a:rPr>
              <a:t>Warm up and connections</a:t>
            </a:r>
            <a:endParaRPr b="1">
              <a:solidFill>
                <a:srgbClr val="FFFF00"/>
              </a:solidFill>
            </a:endParaRPr>
          </a:p>
          <a:p>
            <a:pPr indent="-342900" lvl="0" marL="457200" rtl="0" algn="l">
              <a:spcBef>
                <a:spcPts val="0"/>
              </a:spcBef>
              <a:spcAft>
                <a:spcPts val="0"/>
              </a:spcAft>
              <a:buClr>
                <a:srgbClr val="FFFF00"/>
              </a:buClr>
              <a:buSzPts val="1800"/>
              <a:buAutoNum type="arabicPeriod"/>
            </a:pPr>
            <a:r>
              <a:rPr b="1" lang="en">
                <a:solidFill>
                  <a:srgbClr val="FFFF00"/>
                </a:solidFill>
              </a:rPr>
              <a:t>Quiz on cell</a:t>
            </a:r>
            <a:endParaRPr b="1">
              <a:solidFill>
                <a:srgbClr val="FFFF00"/>
              </a:solidFill>
            </a:endParaRPr>
          </a:p>
          <a:p>
            <a:pPr indent="-342900" lvl="0" marL="457200" rtl="0" algn="l">
              <a:spcBef>
                <a:spcPts val="0"/>
              </a:spcBef>
              <a:spcAft>
                <a:spcPts val="0"/>
              </a:spcAft>
              <a:buClr>
                <a:srgbClr val="FFFF00"/>
              </a:buClr>
              <a:buSzPts val="1800"/>
              <a:buAutoNum type="arabicPeriod"/>
            </a:pPr>
            <a:r>
              <a:rPr b="1" lang="en">
                <a:solidFill>
                  <a:srgbClr val="FFFF00"/>
                </a:solidFill>
              </a:rPr>
              <a:t>Micrograph </a:t>
            </a:r>
            <a:endParaRPr b="1">
              <a:solidFill>
                <a:srgbClr val="FFFF00"/>
              </a:solidFill>
            </a:endParaRPr>
          </a:p>
          <a:p>
            <a:pPr indent="-342900" lvl="0" marL="457200" rtl="0" algn="l">
              <a:spcBef>
                <a:spcPts val="0"/>
              </a:spcBef>
              <a:spcAft>
                <a:spcPts val="0"/>
              </a:spcAft>
              <a:buClr>
                <a:srgbClr val="FFFF00"/>
              </a:buClr>
              <a:buSzPts val="1800"/>
              <a:buAutoNum type="arabicPeriod"/>
            </a:pPr>
            <a:r>
              <a:rPr b="1" lang="en">
                <a:solidFill>
                  <a:srgbClr val="FFFF00"/>
                </a:solidFill>
              </a:rPr>
              <a:t>Structure of cell membrane</a:t>
            </a:r>
            <a:endParaRPr b="1">
              <a:solidFill>
                <a:srgbClr val="FFFF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7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Vesicle</a:t>
            </a:r>
            <a:endParaRPr sz="3000"/>
          </a:p>
        </p:txBody>
      </p:sp>
      <p:sp>
        <p:nvSpPr>
          <p:cNvPr id="379" name="Google Shape;379;p72"/>
          <p:cNvSpPr txBox="1"/>
          <p:nvPr>
            <p:ph idx="1" type="body"/>
          </p:nvPr>
        </p:nvSpPr>
        <p:spPr>
          <a:xfrm>
            <a:off x="311700" y="1152475"/>
            <a:ext cx="3387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3000">
                <a:solidFill>
                  <a:srgbClr val="FFFFFF"/>
                </a:solidFill>
              </a:rPr>
              <a:t>Small spheres of membrane that are used for transport</a:t>
            </a:r>
            <a:endParaRPr sz="3000">
              <a:solidFill>
                <a:srgbClr val="FFFFFF"/>
              </a:solidFill>
            </a:endParaRPr>
          </a:p>
        </p:txBody>
      </p:sp>
      <p:pic>
        <p:nvPicPr>
          <p:cNvPr id="380" name="Google Shape;380;p72"/>
          <p:cNvPicPr preferRelativeResize="0"/>
          <p:nvPr/>
        </p:nvPicPr>
        <p:blipFill rotWithShape="1">
          <a:blip r:embed="rId3">
            <a:alphaModFix/>
          </a:blip>
          <a:srcRect b="10322" l="0" r="0" t="0"/>
          <a:stretch/>
        </p:blipFill>
        <p:spPr>
          <a:xfrm>
            <a:off x="3851400" y="537375"/>
            <a:ext cx="5096275" cy="43379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73"/>
          <p:cNvSpPr txBox="1"/>
          <p:nvPr>
            <p:ph type="title"/>
          </p:nvPr>
        </p:nvSpPr>
        <p:spPr>
          <a:xfrm>
            <a:off x="311700" y="445025"/>
            <a:ext cx="8520600" cy="360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Plants cells have chloroplasts, animal cells do not</a:t>
            </a:r>
            <a:endParaRPr/>
          </a:p>
          <a:p>
            <a:pPr indent="0" lvl="0" marL="0" rtl="0" algn="l">
              <a:spcBef>
                <a:spcPts val="0"/>
              </a:spcBef>
              <a:spcAft>
                <a:spcPts val="0"/>
              </a:spcAft>
              <a:buNone/>
            </a:pPr>
            <a:r>
              <a:rPr lang="en"/>
              <a:t>Plant cells have cell walls, animal cells do not</a:t>
            </a:r>
            <a:endParaRPr/>
          </a:p>
          <a:p>
            <a:pPr indent="0" lvl="0" marL="0" rtl="0" algn="l">
              <a:spcBef>
                <a:spcPts val="0"/>
              </a:spcBef>
              <a:spcAft>
                <a:spcPts val="0"/>
              </a:spcAft>
              <a:buNone/>
            </a:pPr>
            <a:r>
              <a:rPr lang="en"/>
              <a:t>Plant cells have larger vacuoles than animal cells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Advantage of compartmentalization</a:t>
            </a:r>
            <a:endParaRPr sz="3000"/>
          </a:p>
        </p:txBody>
      </p:sp>
      <p:sp>
        <p:nvSpPr>
          <p:cNvPr id="391" name="Google Shape;391;p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lnSpc>
                <a:spcPct val="100000"/>
              </a:lnSpc>
              <a:spcBef>
                <a:spcPts val="0"/>
              </a:spcBef>
              <a:spcAft>
                <a:spcPts val="0"/>
              </a:spcAft>
              <a:buClr>
                <a:srgbClr val="FFFF00"/>
              </a:buClr>
              <a:buSzPts val="3000"/>
              <a:buChar char="-"/>
            </a:pPr>
            <a:r>
              <a:rPr lang="en" sz="3000">
                <a:solidFill>
                  <a:srgbClr val="FFFF00"/>
                </a:solidFill>
              </a:rPr>
              <a:t>Enzymes and substrates can be concentrated</a:t>
            </a:r>
            <a:endParaRPr sz="3000">
              <a:solidFill>
                <a:srgbClr val="FFFF00"/>
              </a:solidFill>
            </a:endParaRPr>
          </a:p>
          <a:p>
            <a:pPr indent="0" lvl="0" marL="457200" rtl="0" algn="l">
              <a:lnSpc>
                <a:spcPct val="100000"/>
              </a:lnSpc>
              <a:spcBef>
                <a:spcPts val="0"/>
              </a:spcBef>
              <a:spcAft>
                <a:spcPts val="0"/>
              </a:spcAft>
              <a:buNone/>
            </a:pPr>
            <a:r>
              <a:rPr lang="en" sz="3000">
                <a:solidFill>
                  <a:srgbClr val="FFFF00"/>
                </a:solidFill>
              </a:rPr>
              <a:t>Example: chloroplast</a:t>
            </a:r>
            <a:endParaRPr sz="3000">
              <a:solidFill>
                <a:srgbClr val="FFFF00"/>
              </a:solidFill>
            </a:endParaRPr>
          </a:p>
          <a:p>
            <a:pPr indent="-419100" lvl="0" marL="457200" rtl="0" algn="l">
              <a:lnSpc>
                <a:spcPct val="100000"/>
              </a:lnSpc>
              <a:spcBef>
                <a:spcPts val="0"/>
              </a:spcBef>
              <a:spcAft>
                <a:spcPts val="0"/>
              </a:spcAft>
              <a:buClr>
                <a:srgbClr val="FFFF00"/>
              </a:buClr>
              <a:buSzPts val="3000"/>
              <a:buChar char="-"/>
            </a:pPr>
            <a:r>
              <a:rPr lang="en" sz="3000">
                <a:solidFill>
                  <a:srgbClr val="FFFF00"/>
                </a:solidFill>
              </a:rPr>
              <a:t>Damaging substances can be contained - Example: lysosome</a:t>
            </a:r>
            <a:endParaRPr sz="3000">
              <a:solidFill>
                <a:srgbClr val="FFFF00"/>
              </a:solidFill>
            </a:endParaRPr>
          </a:p>
          <a:p>
            <a:pPr indent="-419100" lvl="0" marL="457200" rtl="0" algn="l">
              <a:lnSpc>
                <a:spcPct val="100000"/>
              </a:lnSpc>
              <a:spcBef>
                <a:spcPts val="0"/>
              </a:spcBef>
              <a:spcAft>
                <a:spcPts val="0"/>
              </a:spcAft>
              <a:buClr>
                <a:srgbClr val="FFFF00"/>
              </a:buClr>
              <a:buSzPts val="3000"/>
              <a:buChar char="-"/>
            </a:pPr>
            <a:r>
              <a:rPr lang="en" sz="3000">
                <a:solidFill>
                  <a:srgbClr val="FFFF00"/>
                </a:solidFill>
              </a:rPr>
              <a:t>Conditions such as pH can be maintained for a particular reaction</a:t>
            </a:r>
            <a:endParaRPr sz="3000">
              <a:solidFill>
                <a:srgbClr val="FFFF00"/>
              </a:solidFill>
            </a:endParaRPr>
          </a:p>
          <a:p>
            <a:pPr indent="0" lvl="0" marL="0" rtl="0" algn="l">
              <a:lnSpc>
                <a:spcPct val="100000"/>
              </a:lnSpc>
              <a:spcBef>
                <a:spcPts val="0"/>
              </a:spcBef>
              <a:spcAft>
                <a:spcPts val="0"/>
              </a:spcAft>
              <a:buNone/>
            </a:pPr>
            <a:r>
              <a:t/>
            </a:r>
            <a:endParaRPr sz="24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75"/>
          <p:cNvSpPr txBox="1"/>
          <p:nvPr>
            <p:ph type="title"/>
          </p:nvPr>
        </p:nvSpPr>
        <p:spPr>
          <a:xfrm>
            <a:off x="311700" y="445025"/>
            <a:ext cx="8520600" cy="100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Video: Cell Structure - </a:t>
            </a:r>
            <a:r>
              <a:rPr lang="en" u="sng">
                <a:solidFill>
                  <a:schemeClr val="hlink"/>
                </a:solidFill>
                <a:hlinkClick r:id="rId3"/>
              </a:rPr>
              <a:t>link</a:t>
            </a:r>
            <a:r>
              <a:rPr lang="en"/>
              <a:t>  (formative assessment)</a:t>
            </a:r>
            <a:endParaRPr/>
          </a:p>
          <a:p>
            <a:pPr indent="0" lvl="0" marL="0" rtl="0" algn="l">
              <a:spcBef>
                <a:spcPts val="0"/>
              </a:spcBef>
              <a:spcAft>
                <a:spcPts val="0"/>
              </a:spcAft>
              <a:buNone/>
            </a:pPr>
            <a:r>
              <a:rPr lang="en"/>
              <a:t>Guided Notes - </a:t>
            </a:r>
            <a:r>
              <a:rPr lang="en" u="sng">
                <a:solidFill>
                  <a:schemeClr val="hlink"/>
                </a:solidFill>
                <a:hlinkClick r:id="rId4"/>
              </a:rPr>
              <a:t>link</a:t>
            </a:r>
            <a:endParaRPr/>
          </a:p>
          <a:p>
            <a:pPr indent="0" lvl="0" marL="0" rtl="0" algn="l">
              <a:lnSpc>
                <a:spcPct val="115000"/>
              </a:lnSpc>
              <a:spcBef>
                <a:spcPts val="0"/>
              </a:spcBef>
              <a:spcAft>
                <a:spcPts val="0"/>
              </a:spcAft>
              <a:buNone/>
            </a:pPr>
            <a:r>
              <a:t/>
            </a:r>
            <a:endParaRPr sz="230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rPr lang="en"/>
              <a:t> </a:t>
            </a:r>
            <a:endParaRPr/>
          </a:p>
        </p:txBody>
      </p:sp>
      <p:pic>
        <p:nvPicPr>
          <p:cNvPr id="397" name="Google Shape;397;p75"/>
          <p:cNvPicPr preferRelativeResize="0"/>
          <p:nvPr/>
        </p:nvPicPr>
        <p:blipFill>
          <a:blip r:embed="rId5">
            <a:alphaModFix/>
          </a:blip>
          <a:stretch>
            <a:fillRect/>
          </a:stretch>
        </p:blipFill>
        <p:spPr>
          <a:xfrm>
            <a:off x="268700" y="1641575"/>
            <a:ext cx="6030178" cy="3391975"/>
          </a:xfrm>
          <a:prstGeom prst="rect">
            <a:avLst/>
          </a:prstGeom>
          <a:noFill/>
          <a:ln>
            <a:noFill/>
          </a:ln>
        </p:spPr>
      </p:pic>
      <p:sp>
        <p:nvSpPr>
          <p:cNvPr id="398" name="Google Shape;398;p75"/>
          <p:cNvSpPr txBox="1"/>
          <p:nvPr/>
        </p:nvSpPr>
        <p:spPr>
          <a:xfrm>
            <a:off x="5938775" y="1187750"/>
            <a:ext cx="59490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75"/>
          <p:cNvSpPr txBox="1"/>
          <p:nvPr/>
        </p:nvSpPr>
        <p:spPr>
          <a:xfrm>
            <a:off x="4978250" y="1260050"/>
            <a:ext cx="3366900" cy="6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FFFFFF"/>
                </a:solidFill>
              </a:rPr>
              <a:t>Watch the video and write notes about the organelles by using the link</a:t>
            </a:r>
            <a:endParaRPr sz="16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7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and Functions of Plant and animal cells </a:t>
            </a:r>
            <a:endParaRPr/>
          </a:p>
        </p:txBody>
      </p:sp>
      <p:sp>
        <p:nvSpPr>
          <p:cNvPr id="405" name="Google Shape;405;p7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sz="1900" u="sng">
                <a:solidFill>
                  <a:srgbClr val="FFFF00"/>
                </a:solidFill>
                <a:hlinkClick r:id="rId3">
                  <a:extLst>
                    <a:ext uri="{A12FA001-AC4F-418D-AE19-62706E023703}">
                      <ahyp:hlinkClr val="tx"/>
                    </a:ext>
                  </a:extLst>
                </a:hlinkClick>
              </a:rPr>
              <a:t>Structure and Functions of plant and animal cell</a:t>
            </a:r>
            <a:r>
              <a:rPr lang="en" sz="2400">
                <a:solidFill>
                  <a:srgbClr val="FFFF00"/>
                </a:solidFill>
              </a:rPr>
              <a:t> </a:t>
            </a:r>
            <a:endParaRPr sz="2400">
              <a:solidFill>
                <a:srgbClr val="FFFF00"/>
              </a:solidFill>
            </a:endParaRPr>
          </a:p>
          <a:p>
            <a:pPr indent="0" lvl="0" marL="457200" rtl="0" algn="l">
              <a:spcBef>
                <a:spcPts val="0"/>
              </a:spcBef>
              <a:spcAft>
                <a:spcPts val="0"/>
              </a:spcAft>
              <a:buNone/>
            </a:pPr>
            <a:r>
              <a:rPr b="1" lang="en" sz="2400">
                <a:solidFill>
                  <a:srgbClr val="00FFFF"/>
                </a:solidFill>
              </a:rPr>
              <a:t>Formative assessment</a:t>
            </a:r>
            <a:endParaRPr b="1" sz="2400">
              <a:solidFill>
                <a:srgbClr val="00FFFF"/>
              </a:solidFill>
            </a:endParaRPr>
          </a:p>
          <a:p>
            <a:pPr indent="0" lvl="0" marL="457200" rtl="0" algn="l">
              <a:spcBef>
                <a:spcPts val="0"/>
              </a:spcBef>
              <a:spcAft>
                <a:spcPts val="0"/>
              </a:spcAft>
              <a:buNone/>
            </a:pPr>
            <a:r>
              <a:t/>
            </a:r>
            <a:endParaRPr sz="2400">
              <a:solidFill>
                <a:srgbClr val="FFFF00"/>
              </a:solidFill>
            </a:endParaRPr>
          </a:p>
          <a:p>
            <a:pPr indent="0" lvl="0" marL="457200" rtl="0" algn="l">
              <a:spcBef>
                <a:spcPts val="0"/>
              </a:spcBef>
              <a:spcAft>
                <a:spcPts val="0"/>
              </a:spcAft>
              <a:buNone/>
            </a:pPr>
            <a:r>
              <a:rPr lang="en" sz="2400">
                <a:solidFill>
                  <a:srgbClr val="FFFF00"/>
                </a:solidFill>
              </a:rPr>
              <a:t>Label the parts of plant and animal cells in the given diagram and write one major function of each labeled part.</a:t>
            </a:r>
            <a:endParaRPr sz="2400">
              <a:solidFill>
                <a:srgbClr val="FFFF00"/>
              </a:solidFill>
            </a:endParaRPr>
          </a:p>
          <a:p>
            <a:pPr indent="0" lvl="0" marL="457200" rtl="0" algn="l">
              <a:spcBef>
                <a:spcPts val="0"/>
              </a:spcBef>
              <a:spcAft>
                <a:spcPts val="0"/>
              </a:spcAft>
              <a:buNone/>
            </a:pPr>
            <a:r>
              <a:rPr lang="en" sz="2400">
                <a:solidFill>
                  <a:srgbClr val="FFFF00"/>
                </a:solidFill>
              </a:rPr>
              <a:t>You can make use of the resources provided to you</a:t>
            </a:r>
            <a:endParaRPr sz="2400">
              <a:solidFill>
                <a:srgbClr val="FFFF00"/>
              </a:solidFill>
            </a:endParaRPr>
          </a:p>
          <a:p>
            <a:pPr indent="0" lvl="0" marL="0" rtl="0" algn="l">
              <a:spcBef>
                <a:spcPts val="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77"/>
          <p:cNvPicPr preferRelativeResize="0"/>
          <p:nvPr/>
        </p:nvPicPr>
        <p:blipFill>
          <a:blip r:embed="rId3">
            <a:alphaModFix/>
          </a:blip>
          <a:stretch>
            <a:fillRect/>
          </a:stretch>
        </p:blipFill>
        <p:spPr>
          <a:xfrm>
            <a:off x="11" y="0"/>
            <a:ext cx="8242478" cy="5143500"/>
          </a:xfrm>
          <a:prstGeom prst="rect">
            <a:avLst/>
          </a:prstGeom>
          <a:noFill/>
          <a:ln>
            <a:noFill/>
          </a:ln>
        </p:spPr>
      </p:pic>
      <p:pic>
        <p:nvPicPr>
          <p:cNvPr id="411" name="Google Shape;411;p77"/>
          <p:cNvPicPr preferRelativeResize="0"/>
          <p:nvPr/>
        </p:nvPicPr>
        <p:blipFill>
          <a:blip r:embed="rId4">
            <a:alphaModFix/>
          </a:blip>
          <a:stretch>
            <a:fillRect/>
          </a:stretch>
        </p:blipFill>
        <p:spPr>
          <a:xfrm>
            <a:off x="4728000" y="168275"/>
            <a:ext cx="4284600" cy="3002475"/>
          </a:xfrm>
          <a:prstGeom prst="rect">
            <a:avLst/>
          </a:prstGeom>
          <a:noFill/>
          <a:ln>
            <a:noFill/>
          </a:ln>
          <a:effectLst>
            <a:outerShdw blurRad="1428750" rotWithShape="0" algn="bl" dir="7320000" dist="114300">
              <a:srgbClr val="000000"/>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78"/>
          <p:cNvSpPr txBox="1"/>
          <p:nvPr>
            <p:ph type="title"/>
          </p:nvPr>
        </p:nvSpPr>
        <p:spPr>
          <a:xfrm>
            <a:off x="311700" y="346400"/>
            <a:ext cx="8520600" cy="93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Get familiar with the cell organelles of a eukaryotic cell</a:t>
            </a:r>
            <a:endParaRPr/>
          </a:p>
        </p:txBody>
      </p:sp>
      <p:sp>
        <p:nvSpPr>
          <p:cNvPr id="417" name="Google Shape;417;p7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Link for animation</a:t>
            </a:r>
            <a:r>
              <a:rPr lang="en"/>
              <a:t> (click on this link, start the animation and review the organelles using both plant and animal cells)</a:t>
            </a:r>
            <a:endParaRPr/>
          </a:p>
          <a:p>
            <a:pPr indent="0" lvl="0" marL="0" rtl="0" algn="l">
              <a:spcBef>
                <a:spcPts val="1600"/>
              </a:spcBef>
              <a:spcAft>
                <a:spcPts val="0"/>
              </a:spcAft>
              <a:buNone/>
            </a:pPr>
            <a:r>
              <a:rPr lang="en" u="sng">
                <a:solidFill>
                  <a:schemeClr val="hlink"/>
                </a:solidFill>
                <a:hlinkClick r:id="rId4"/>
              </a:rPr>
              <a:t>Review Quiz on prokaryotic and eukaryotic cell</a:t>
            </a:r>
            <a:r>
              <a:rPr lang="en"/>
              <a:t> (Play this quiz with a partner)</a:t>
            </a:r>
            <a:endParaRPr/>
          </a:p>
          <a:p>
            <a:pPr indent="0" lvl="0" marL="0" rtl="0" algn="l">
              <a:spcBef>
                <a:spcPts val="1600"/>
              </a:spcBef>
              <a:spcAft>
                <a:spcPts val="0"/>
              </a:spcAft>
              <a:buNone/>
            </a:pPr>
            <a:r>
              <a:rPr lang="en"/>
              <a:t>After completing all of the above, you will be very familiar and confident with the content</a:t>
            </a:r>
            <a:endParaRPr/>
          </a:p>
          <a:p>
            <a:pPr indent="0" lvl="0" marL="0" rtl="0" algn="l">
              <a:spcBef>
                <a:spcPts val="1600"/>
              </a:spcBef>
              <a:spcAft>
                <a:spcPts val="1600"/>
              </a:spcAft>
              <a:buNone/>
            </a:pPr>
            <a:r>
              <a:rPr lang="en" u="sng">
                <a:solidFill>
                  <a:schemeClr val="hlink"/>
                </a:solidFill>
                <a:hlinkClick r:id="rId5"/>
              </a:rPr>
              <a:t>Use this cell organelle and functions table to review</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Kahoot quiz Eukaryotic cell</a:t>
            </a:r>
            <a:endParaRPr/>
          </a:p>
        </p:txBody>
      </p:sp>
      <p:sp>
        <p:nvSpPr>
          <p:cNvPr id="423" name="Google Shape;423;p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424" name="Google Shape;424;p79"/>
          <p:cNvPicPr preferRelativeResize="0"/>
          <p:nvPr/>
        </p:nvPicPr>
        <p:blipFill>
          <a:blip r:embed="rId4">
            <a:alphaModFix/>
          </a:blip>
          <a:stretch>
            <a:fillRect/>
          </a:stretch>
        </p:blipFill>
        <p:spPr>
          <a:xfrm>
            <a:off x="146075" y="1152475"/>
            <a:ext cx="5356150" cy="22193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80"/>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Clear and </a:t>
            </a:r>
            <a:r>
              <a:rPr i="1" lang="en" sz="3600" u="sng">
                <a:solidFill>
                  <a:srgbClr val="FFFF00"/>
                </a:solidFill>
              </a:rPr>
              <a:t>Cloudy</a:t>
            </a:r>
            <a:r>
              <a:rPr lang="en" sz="3600">
                <a:solidFill>
                  <a:srgbClr val="FFFF00"/>
                </a:solidFill>
              </a:rPr>
              <a:t> </a:t>
            </a:r>
            <a:r>
              <a:rPr lang="en"/>
              <a:t>Strategy</a:t>
            </a:r>
            <a:endParaRPr/>
          </a:p>
        </p:txBody>
      </p:sp>
      <p:sp>
        <p:nvSpPr>
          <p:cNvPr id="430" name="Google Shape;430;p80"/>
          <p:cNvSpPr txBox="1"/>
          <p:nvPr>
            <p:ph idx="1" type="body"/>
          </p:nvPr>
        </p:nvSpPr>
        <p:spPr>
          <a:xfrm>
            <a:off x="311700" y="1152475"/>
            <a:ext cx="4057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Describe/Explain the structure and functions of cell organelles. </a:t>
            </a:r>
            <a:endParaRPr/>
          </a:p>
          <a:p>
            <a:pPr indent="0" lvl="0" marL="0" rtl="0" algn="l">
              <a:spcBef>
                <a:spcPts val="1200"/>
              </a:spcBef>
              <a:spcAft>
                <a:spcPts val="1200"/>
              </a:spcAft>
              <a:buNone/>
            </a:pPr>
            <a:r>
              <a:rPr lang="en">
                <a:solidFill>
                  <a:srgbClr val="FFFFFF"/>
                </a:solidFill>
              </a:rPr>
              <a:t>What is </a:t>
            </a:r>
            <a:r>
              <a:rPr b="1" i="1" lang="en" u="sng">
                <a:solidFill>
                  <a:srgbClr val="FFFFFF"/>
                </a:solidFill>
              </a:rPr>
              <a:t>CLOUDY</a:t>
            </a:r>
            <a:r>
              <a:rPr lang="en">
                <a:solidFill>
                  <a:srgbClr val="FFFFFF"/>
                </a:solidFill>
              </a:rPr>
              <a:t> for you in terms of being able to both describe and explain the functions of organelles? </a:t>
            </a:r>
            <a:endParaRPr>
              <a:solidFill>
                <a:srgbClr val="FFFFFF"/>
              </a:solidFill>
            </a:endParaRPr>
          </a:p>
        </p:txBody>
      </p:sp>
      <p:pic>
        <p:nvPicPr>
          <p:cNvPr id="431" name="Google Shape;431;p80"/>
          <p:cNvPicPr preferRelativeResize="0"/>
          <p:nvPr/>
        </p:nvPicPr>
        <p:blipFill>
          <a:blip r:embed="rId3">
            <a:alphaModFix/>
          </a:blip>
          <a:stretch>
            <a:fillRect/>
          </a:stretch>
        </p:blipFill>
        <p:spPr>
          <a:xfrm>
            <a:off x="4521300" y="1170125"/>
            <a:ext cx="4470300" cy="314783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